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59" autoAdjust="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437" y="6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9/8/2026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9/8/2026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502920" y="914400"/>
            <a:ext cx="5669280" cy="73152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74320" y="91440"/>
            <a:ext cx="9784080" cy="1005840"/>
          </a:xfrm>
        </p:spPr>
        <p:txBody>
          <a:bodyPr/>
          <a:lstStyle/>
          <a:p>
            <a:r>
              <a:rPr lang="en-IN" sz="3200" b="1" dirty="0">
                <a:solidFill>
                  <a:srgbClr val="1F4E79"/>
                </a:solidFill>
                <a:latin typeface="Times New Roman"/>
                <a:cs typeface="Times New Roman"/>
              </a:rPr>
              <a:t>SMART INDIA HACKATHON 2026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001" name="Title fields"/>
          <p:cNvSpPr txBox="1"/>
          <p:nvPr/>
        </p:nvSpPr>
        <p:spPr>
          <a:xfrm>
            <a:off x="548640" y="2103120"/>
            <a:ext cx="5577840" cy="274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171450" indent="-171450">
              <a:spcBef>
                <a:spcPts val="430"/>
              </a:spcBef>
              <a:buClr>
                <a:srgbClr val="0070C0"/>
              </a:buClr>
              <a:buFont typeface="Arial"/>
              <a:buChar char="•"/>
            </a:pPr>
            <a:r>
              <a:rPr lang="en-IN" sz="2000" b="1" dirty="0">
                <a:solidFill>
                  <a:srgbClr val="17365D"/>
                </a:solidFill>
                <a:latin typeface="Times New Roman"/>
                <a:cs typeface="Times New Roman"/>
              </a:rPr>
              <a:t>Problem Statement ID — </a:t>
            </a:r>
            <a:r>
              <a:rPr lang="en-IN" sz="2000" dirty="0">
                <a:solidFill>
                  <a:srgbClr val="1A1A1A"/>
                </a:solidFill>
                <a:latin typeface="Calibri"/>
                <a:cs typeface="Calibri"/>
              </a:rPr>
              <a:t>SIH26047</a:t>
            </a:r>
          </a:p>
          <a:p>
            <a:pPr marL="171450" indent="-171450">
              <a:spcBef>
                <a:spcPts val="430"/>
              </a:spcBef>
              <a:buClr>
                <a:srgbClr val="0070C0"/>
              </a:buClr>
              <a:buFont typeface="Arial"/>
              <a:buChar char="•"/>
            </a:pPr>
            <a:r>
              <a:rPr lang="en-IN" sz="2000" b="1" dirty="0">
                <a:solidFill>
                  <a:srgbClr val="17365D"/>
                </a:solidFill>
                <a:latin typeface="Times New Roman"/>
                <a:cs typeface="Times New Roman"/>
              </a:rPr>
              <a:t>Problem Statement Title — </a:t>
            </a:r>
            <a:r>
              <a:rPr lang="en-IN" sz="2000" dirty="0">
                <a:solidFill>
                  <a:srgbClr val="1A1A1A"/>
                </a:solidFill>
                <a:latin typeface="Calibri"/>
                <a:cs typeface="Calibri"/>
              </a:rPr>
              <a:t>Patient Case-Taking Software</a:t>
            </a:r>
          </a:p>
          <a:p>
            <a:pPr marL="171450" indent="-171450">
              <a:spcBef>
                <a:spcPts val="430"/>
              </a:spcBef>
              <a:buClr>
                <a:srgbClr val="0070C0"/>
              </a:buClr>
              <a:buFont typeface="Arial"/>
              <a:buChar char="•"/>
            </a:pPr>
            <a:r>
              <a:rPr lang="en-IN" sz="2000" b="1" dirty="0">
                <a:solidFill>
                  <a:srgbClr val="17365D"/>
                </a:solidFill>
                <a:latin typeface="Times New Roman"/>
                <a:cs typeface="Times New Roman"/>
              </a:rPr>
              <a:t>Theme — </a:t>
            </a:r>
            <a:r>
              <a:rPr lang="en-IN" sz="2000" dirty="0">
                <a:solidFill>
                  <a:srgbClr val="1A1A1A"/>
                </a:solidFill>
                <a:latin typeface="Calibri"/>
                <a:cs typeface="Calibri"/>
              </a:rPr>
              <a:t>MedTech / BioTech / HealthTech</a:t>
            </a:r>
          </a:p>
          <a:p>
            <a:pPr marL="171450" indent="-171450">
              <a:spcBef>
                <a:spcPts val="430"/>
              </a:spcBef>
              <a:buClr>
                <a:srgbClr val="0070C0"/>
              </a:buClr>
              <a:buFont typeface="Arial"/>
              <a:buChar char="•"/>
            </a:pPr>
            <a:r>
              <a:rPr lang="en-IN" sz="2000" b="1" dirty="0">
                <a:solidFill>
                  <a:srgbClr val="17365D"/>
                </a:solidFill>
                <a:latin typeface="Times New Roman"/>
                <a:cs typeface="Times New Roman"/>
              </a:rPr>
              <a:t>PS Category — </a:t>
            </a:r>
            <a:r>
              <a:rPr lang="en-IN" sz="2000" dirty="0">
                <a:solidFill>
                  <a:srgbClr val="1A1A1A"/>
                </a:solidFill>
                <a:latin typeface="Calibri"/>
                <a:cs typeface="Calibri"/>
              </a:rPr>
              <a:t>Software</a:t>
            </a:r>
          </a:p>
          <a:p>
            <a:pPr marL="171450" indent="-171450">
              <a:spcBef>
                <a:spcPts val="430"/>
              </a:spcBef>
              <a:buClr>
                <a:srgbClr val="0070C0"/>
              </a:buClr>
              <a:buFont typeface="Arial"/>
              <a:buChar char="•"/>
            </a:pPr>
            <a:r>
              <a:rPr lang="en-IN" sz="2000" b="1" dirty="0">
                <a:solidFill>
                  <a:srgbClr val="17365D"/>
                </a:solidFill>
                <a:latin typeface="Times New Roman"/>
                <a:cs typeface="Times New Roman"/>
              </a:rPr>
              <a:t>Team ID — </a:t>
            </a:r>
            <a:r>
              <a:rPr lang="en-IN" sz="2000" dirty="0">
                <a:solidFill>
                  <a:srgbClr val="1A1A1A"/>
                </a:solidFill>
                <a:latin typeface="Calibri"/>
                <a:cs typeface="Calibri"/>
              </a:rPr>
              <a:t>[TEAM ID]</a:t>
            </a:r>
          </a:p>
          <a:p>
            <a:pPr marL="171450" indent="-171450">
              <a:spcBef>
                <a:spcPts val="430"/>
              </a:spcBef>
              <a:buClr>
                <a:srgbClr val="0070C0"/>
              </a:buClr>
              <a:buFont typeface="Arial"/>
              <a:buChar char="•"/>
            </a:pPr>
            <a:r>
              <a:rPr lang="en-IN" sz="2000" b="1" dirty="0">
                <a:solidFill>
                  <a:srgbClr val="17365D"/>
                </a:solidFill>
                <a:latin typeface="Times New Roman"/>
                <a:cs typeface="Times New Roman"/>
              </a:rPr>
              <a:t>Team Name — </a:t>
            </a:r>
            <a:r>
              <a:rPr lang="en-IN" sz="2000" b="1" dirty="0">
                <a:solidFill>
                  <a:srgbClr val="1A1A1A"/>
                </a:solidFill>
                <a:latin typeface="Calibri"/>
                <a:cs typeface="Calibri"/>
              </a:rPr>
              <a:t>TEAM ORIANS </a:t>
            </a:r>
            <a:endParaRPr lang="en-IN" sz="2000" dirty="0">
              <a:solidFill>
                <a:srgbClr val="1A1A1A"/>
              </a:solidFill>
              <a:latin typeface="Calibri"/>
              <a:cs typeface="Calibri"/>
            </a:endParaRPr>
          </a:p>
        </p:txBody>
      </p:sp>
      <p:sp>
        <p:nvSpPr>
          <p:cNvPr id="2002" name="Org band"/>
          <p:cNvSpPr/>
          <p:nvPr/>
        </p:nvSpPr>
        <p:spPr>
          <a:xfrm>
            <a:off x="548640" y="4956048"/>
            <a:ext cx="5120640" cy="566928"/>
          </a:xfrm>
          <a:prstGeom prst="roundRect">
            <a:avLst>
              <a:gd name="adj" fmla="val 18000"/>
            </a:avLst>
          </a:prstGeom>
          <a:solidFill>
            <a:srgbClr val="EEF5FB"/>
          </a:solidFill>
          <a:ln w="9525">
            <a:solidFill>
              <a:srgbClr val="C7D8E6"/>
            </a:solidFill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buNone/>
            </a:pPr>
            <a:r>
              <a:rPr lang="en-IN" sz="1150" b="1" dirty="0">
                <a:solidFill>
                  <a:srgbClr val="17365D"/>
                </a:solidFill>
                <a:latin typeface="Times New Roman"/>
                <a:cs typeface="Times New Roman"/>
              </a:rPr>
              <a:t>Ministry of Ayush  ·  All India Institute of Ayurveda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693333" y="146304"/>
            <a:ext cx="8238068" cy="914400"/>
          </a:xfrm>
        </p:spPr>
        <p:txBody>
          <a:bodyPr/>
          <a:lstStyle/>
          <a:p>
            <a:pPr algn="l" eaLnBrk="1" hangingPunct="1"/>
            <a:r>
              <a:rPr lang="en-IN" sz="2400" b="1" dirty="0">
                <a:solidFill>
                  <a:srgbClr val="17365D"/>
                </a:solidFill>
                <a:latin typeface="Times New Roman"/>
                <a:cs typeface="Times New Roman"/>
              </a:rPr>
              <a:t>MediKiosk — Pre-Consultation AI Case-Taking for Hospitals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TEAM ORIANS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003" name="Card body"/>
          <p:cNvSpPr/>
          <p:nvPr/>
        </p:nvSpPr>
        <p:spPr>
          <a:xfrm>
            <a:off x="502920" y="1243584"/>
            <a:ext cx="3566160" cy="243230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C7D8E6"/>
            </a:solidFill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2004" name="Card head"/>
          <p:cNvSpPr/>
          <p:nvPr/>
        </p:nvSpPr>
        <p:spPr>
          <a:xfrm>
            <a:off x="502920" y="1243584"/>
            <a:ext cx="3566160" cy="292608"/>
          </a:xfrm>
          <a:prstGeom prst="roundRect">
            <a:avLst>
              <a:gd name="adj" fmla="val 26000"/>
            </a:avLst>
          </a:prstGeom>
          <a:solidFill>
            <a:srgbClr val="0070C0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buNone/>
            </a:pPr>
            <a:r>
              <a:rPr lang="en-IN" sz="1000" b="1" dirty="0">
                <a:solidFill>
                  <a:srgbClr val="FFFFFF"/>
                </a:solidFill>
                <a:latin typeface="Times New Roman"/>
                <a:cs typeface="Times New Roman"/>
              </a:rPr>
              <a:t>PROPOSED SOLUTION</a:t>
            </a:r>
          </a:p>
        </p:txBody>
      </p:sp>
      <p:sp>
        <p:nvSpPr>
          <p:cNvPr id="2005" name="Card text"/>
          <p:cNvSpPr txBox="1"/>
          <p:nvPr/>
        </p:nvSpPr>
        <p:spPr>
          <a:xfrm>
            <a:off x="649224" y="1618488"/>
            <a:ext cx="3273552" cy="19751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171450" indent="-171450">
              <a:spcBef>
                <a:spcPts val="300"/>
              </a:spcBef>
              <a:buClr>
                <a:srgbClr val="0070C0"/>
              </a:buClr>
              <a:buFont typeface="Arial"/>
              <a:buChar char="•"/>
            </a:pPr>
            <a:r>
              <a:rPr lang="en-IN" sz="1100" b="1" dirty="0">
                <a:solidFill>
                  <a:srgbClr val="1A1A1A"/>
                </a:solidFill>
                <a:latin typeface="Calibri"/>
                <a:cs typeface="Calibri"/>
              </a:rPr>
              <a:t>Self-service kiosk at OPD entry </a:t>
            </a:r>
            <a:r>
              <a:rPr lang="en-IN" sz="1100" dirty="0">
                <a:solidFill>
                  <a:srgbClr val="1A1A1A"/>
                </a:solidFill>
                <a:latin typeface="Calibri"/>
                <a:cs typeface="Calibri"/>
              </a:rPr>
              <a:t>— the patient completes a full clinical history before consultation</a:t>
            </a:r>
          </a:p>
          <a:p>
            <a:pPr marL="171450" indent="-171450">
              <a:spcBef>
                <a:spcPts val="300"/>
              </a:spcBef>
              <a:buClr>
                <a:srgbClr val="0070C0"/>
              </a:buClr>
              <a:buFont typeface="Arial"/>
              <a:buChar char="•"/>
            </a:pPr>
            <a:r>
              <a:rPr lang="en-IN" sz="1100" b="1" dirty="0">
                <a:solidFill>
                  <a:srgbClr val="1A1A1A"/>
                </a:solidFill>
                <a:latin typeface="Calibri"/>
                <a:cs typeface="Calibri"/>
              </a:rPr>
              <a:t>Identifies by mobile number, ABHA number or Aadhaar </a:t>
            </a:r>
            <a:r>
              <a:rPr lang="en-IN" sz="1100" dirty="0">
                <a:solidFill>
                  <a:srgbClr val="1A1A1A"/>
                </a:solidFill>
                <a:latin typeface="Calibri"/>
                <a:cs typeface="Calibri"/>
              </a:rPr>
              <a:t>— no smartphone, literacy or prior enrolment</a:t>
            </a:r>
          </a:p>
          <a:p>
            <a:pPr marL="171450" indent="-171450">
              <a:spcBef>
                <a:spcPts val="300"/>
              </a:spcBef>
              <a:buClr>
                <a:srgbClr val="0070C0"/>
              </a:buClr>
              <a:buFont typeface="Arial"/>
              <a:buChar char="•"/>
            </a:pPr>
            <a:r>
              <a:rPr lang="en-IN" sz="1100" b="1" dirty="0">
                <a:solidFill>
                  <a:srgbClr val="1A1A1A"/>
                </a:solidFill>
                <a:latin typeface="Calibri"/>
                <a:cs typeface="Calibri"/>
              </a:rPr>
              <a:t>Every question answerable by voice or tap</a:t>
            </a:r>
            <a:r>
              <a:rPr lang="en-IN" sz="1100" dirty="0">
                <a:solidFill>
                  <a:srgbClr val="1A1A1A"/>
                </a:solidFill>
                <a:latin typeface="Calibri"/>
                <a:cs typeface="Calibri"/>
              </a:rPr>
              <a:t>, in Hindi or English</a:t>
            </a:r>
          </a:p>
          <a:p>
            <a:pPr marL="171450" indent="-171450">
              <a:spcBef>
                <a:spcPts val="300"/>
              </a:spcBef>
              <a:buClr>
                <a:srgbClr val="0070C0"/>
              </a:buClr>
              <a:buFont typeface="Arial"/>
              <a:buChar char="•"/>
            </a:pPr>
            <a:r>
              <a:rPr lang="en-IN" sz="1100" b="1" dirty="0">
                <a:solidFill>
                  <a:srgbClr val="1A1A1A"/>
                </a:solidFill>
                <a:latin typeface="Calibri"/>
                <a:cs typeface="Calibri"/>
              </a:rPr>
              <a:t>AYUSH mode adds all ten Dashavidha Pariksha </a:t>
            </a:r>
            <a:r>
              <a:rPr lang="en-IN" sz="1100" dirty="0">
                <a:solidFill>
                  <a:srgbClr val="1A1A1A"/>
                </a:solidFill>
                <a:latin typeface="Calibri"/>
                <a:cs typeface="Calibri"/>
              </a:rPr>
              <a:t>(Ayurveda)</a:t>
            </a:r>
          </a:p>
          <a:p>
            <a:pPr marL="171450" indent="-171450">
              <a:spcBef>
                <a:spcPts val="300"/>
              </a:spcBef>
              <a:buClr>
                <a:srgbClr val="0070C0"/>
              </a:buClr>
              <a:buFont typeface="Arial"/>
              <a:buChar char="•"/>
            </a:pPr>
            <a:r>
              <a:rPr lang="en-IN" sz="1100" dirty="0">
                <a:solidFill>
                  <a:srgbClr val="1A1A1A"/>
                </a:solidFill>
                <a:latin typeface="Calibri"/>
                <a:cs typeface="Calibri"/>
              </a:rPr>
              <a:t>Patient scans old prescriptions and reports</a:t>
            </a:r>
            <a:r>
              <a:rPr lang="en-IN" sz="1100" b="1" dirty="0">
                <a:solidFill>
                  <a:srgbClr val="1A1A1A"/>
                </a:solidFill>
                <a:latin typeface="Calibri"/>
                <a:cs typeface="Calibri"/>
              </a:rPr>
              <a:t>; AI extracts diagnoses and summarizes the lab values</a:t>
            </a:r>
          </a:p>
        </p:txBody>
      </p:sp>
      <p:sp>
        <p:nvSpPr>
          <p:cNvPr id="2006" name="Card body"/>
          <p:cNvSpPr/>
          <p:nvPr/>
        </p:nvSpPr>
        <p:spPr>
          <a:xfrm>
            <a:off x="4306824" y="1243584"/>
            <a:ext cx="3566160" cy="243230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C7D8E6"/>
            </a:solidFill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2007" name="Card head"/>
          <p:cNvSpPr/>
          <p:nvPr/>
        </p:nvSpPr>
        <p:spPr>
          <a:xfrm>
            <a:off x="4306824" y="1243584"/>
            <a:ext cx="3566160" cy="292608"/>
          </a:xfrm>
          <a:prstGeom prst="roundRect">
            <a:avLst>
              <a:gd name="adj" fmla="val 26000"/>
            </a:avLst>
          </a:prstGeom>
          <a:solidFill>
            <a:srgbClr val="1F7A5A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buNone/>
            </a:pPr>
            <a:r>
              <a:rPr lang="en-IN" sz="1000" b="1" dirty="0">
                <a:solidFill>
                  <a:srgbClr val="FFFFFF"/>
                </a:solidFill>
                <a:latin typeface="Times New Roman"/>
                <a:cs typeface="Times New Roman"/>
              </a:rPr>
              <a:t>HOW IT ADDRESSES THE PROBLEM</a:t>
            </a:r>
          </a:p>
        </p:txBody>
      </p:sp>
      <p:sp>
        <p:nvSpPr>
          <p:cNvPr id="2008" name="Card text"/>
          <p:cNvSpPr txBox="1"/>
          <p:nvPr/>
        </p:nvSpPr>
        <p:spPr>
          <a:xfrm>
            <a:off x="4453128" y="1536192"/>
            <a:ext cx="3273552" cy="19751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171450" indent="-171450">
              <a:spcBef>
                <a:spcPts val="300"/>
              </a:spcBef>
              <a:buClr>
                <a:srgbClr val="1F7A5A"/>
              </a:buClr>
              <a:buFont typeface="Arial"/>
              <a:buChar char="•"/>
            </a:pPr>
            <a:r>
              <a:rPr lang="en-IN" sz="1200" dirty="0">
                <a:solidFill>
                  <a:srgbClr val="1A1A1A"/>
                </a:solidFill>
                <a:latin typeface="Calibri"/>
                <a:cs typeface="Calibri"/>
              </a:rPr>
              <a:t>Lifts history-taking off the 2–5 minute consultation clock</a:t>
            </a:r>
          </a:p>
          <a:p>
            <a:pPr marL="171450" indent="-171450">
              <a:spcBef>
                <a:spcPts val="300"/>
              </a:spcBef>
              <a:buClr>
                <a:srgbClr val="1F7A5A"/>
              </a:buClr>
              <a:buFont typeface="Arial"/>
              <a:buChar char="•"/>
            </a:pPr>
            <a:r>
              <a:rPr lang="en-IN" sz="1200" dirty="0">
                <a:solidFill>
                  <a:srgbClr val="1A1A1A"/>
                </a:solidFill>
                <a:latin typeface="Calibri"/>
                <a:cs typeface="Calibri"/>
              </a:rPr>
              <a:t>Serves the elderly, low-literacy and first-visit majority that smartphone health apps exclude</a:t>
            </a:r>
          </a:p>
          <a:p>
            <a:pPr marL="171450" indent="-171450">
              <a:spcBef>
                <a:spcPts val="300"/>
              </a:spcBef>
              <a:buClr>
                <a:srgbClr val="1F7A5A"/>
              </a:buClr>
              <a:buFont typeface="Arial"/>
              <a:buChar char="•"/>
            </a:pPr>
            <a:r>
              <a:rPr lang="en-IN" sz="1200" dirty="0">
                <a:solidFill>
                  <a:srgbClr val="1A1A1A"/>
                </a:solidFill>
                <a:latin typeface="Calibri"/>
                <a:cs typeface="Calibri"/>
              </a:rPr>
              <a:t>Digitises the paper the patient already carries — ABDM's unsolved “first-mile” problem</a:t>
            </a:r>
          </a:p>
          <a:p>
            <a:pPr marL="171450" indent="-171450">
              <a:spcBef>
                <a:spcPts val="300"/>
              </a:spcBef>
              <a:buClr>
                <a:srgbClr val="1F7A5A"/>
              </a:buClr>
              <a:buFont typeface="Arial"/>
              <a:buChar char="•"/>
            </a:pPr>
            <a:r>
              <a:rPr lang="en-IN" sz="1200" dirty="0">
                <a:solidFill>
                  <a:srgbClr val="1A1A1A"/>
                </a:solidFill>
                <a:latin typeface="Calibri"/>
                <a:cs typeface="Calibri"/>
              </a:rPr>
              <a:t>Rule-based red-flag detection pulls emergencies out of the routine queue</a:t>
            </a:r>
          </a:p>
          <a:p>
            <a:pPr marL="171450" indent="-171450">
              <a:spcBef>
                <a:spcPts val="300"/>
              </a:spcBef>
              <a:buClr>
                <a:srgbClr val="1F7A5A"/>
              </a:buClr>
              <a:buFont typeface="Arial"/>
              <a:buChar char="•"/>
            </a:pPr>
            <a:r>
              <a:rPr lang="en-IN" sz="1200" dirty="0">
                <a:solidFill>
                  <a:srgbClr val="1A1A1A"/>
                </a:solidFill>
                <a:latin typeface="Calibri"/>
                <a:cs typeface="Calibri"/>
              </a:rPr>
              <a:t>Captures the Ayurvedic depth that OPD time pressure normally forces practitioners to abbreviate</a:t>
            </a:r>
          </a:p>
        </p:txBody>
      </p:sp>
      <p:sp>
        <p:nvSpPr>
          <p:cNvPr id="2009" name="Card body"/>
          <p:cNvSpPr/>
          <p:nvPr/>
        </p:nvSpPr>
        <p:spPr>
          <a:xfrm>
            <a:off x="8110728" y="1243584"/>
            <a:ext cx="3566160" cy="243230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C7D8E6"/>
            </a:solidFill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2010" name="Card head"/>
          <p:cNvSpPr/>
          <p:nvPr/>
        </p:nvSpPr>
        <p:spPr>
          <a:xfrm>
            <a:off x="8110728" y="1243584"/>
            <a:ext cx="3566160" cy="292608"/>
          </a:xfrm>
          <a:prstGeom prst="roundRect">
            <a:avLst>
              <a:gd name="adj" fmla="val 26000"/>
            </a:avLst>
          </a:prstGeom>
          <a:solidFill>
            <a:srgbClr val="17365D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buNone/>
            </a:pPr>
            <a:r>
              <a:rPr lang="en-IN" sz="1000" b="1" dirty="0">
                <a:solidFill>
                  <a:srgbClr val="FFFFFF"/>
                </a:solidFill>
                <a:latin typeface="Times New Roman"/>
                <a:cs typeface="Times New Roman"/>
              </a:rPr>
              <a:t>INNOVATION AND UNIQUENESS</a:t>
            </a:r>
          </a:p>
        </p:txBody>
      </p:sp>
      <p:sp>
        <p:nvSpPr>
          <p:cNvPr id="2011" name="Card text"/>
          <p:cNvSpPr txBox="1"/>
          <p:nvPr/>
        </p:nvSpPr>
        <p:spPr>
          <a:xfrm>
            <a:off x="8257032" y="1520613"/>
            <a:ext cx="3273552" cy="19751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171450" indent="-171450">
              <a:spcBef>
                <a:spcPts val="300"/>
              </a:spcBef>
              <a:buClr>
                <a:srgbClr val="17365D"/>
              </a:buClr>
              <a:buFont typeface="Arial"/>
              <a:buChar char="•"/>
            </a:pPr>
            <a:r>
              <a:rPr lang="en-IN" sz="1200" b="1" dirty="0">
                <a:solidFill>
                  <a:srgbClr val="1A1A1A"/>
                </a:solidFill>
                <a:latin typeface="Calibri"/>
                <a:cs typeface="Calibri"/>
              </a:rPr>
              <a:t>No existing system</a:t>
            </a:r>
            <a:r>
              <a:rPr lang="en-IN" sz="1200" dirty="0">
                <a:solidFill>
                  <a:srgbClr val="1A1A1A"/>
                </a:solidFill>
                <a:latin typeface="Calibri"/>
                <a:cs typeface="Calibri"/>
              </a:rPr>
              <a:t> does deep AYUSH history-taking and document digitisation before the encounter</a:t>
            </a:r>
          </a:p>
          <a:p>
            <a:pPr marL="171450" indent="-171450">
              <a:spcBef>
                <a:spcPts val="300"/>
              </a:spcBef>
              <a:buClr>
                <a:srgbClr val="17365D"/>
              </a:buClr>
              <a:buFont typeface="Arial"/>
              <a:buChar char="•"/>
            </a:pPr>
            <a:r>
              <a:rPr lang="en-IN" sz="1200" b="1" dirty="0">
                <a:solidFill>
                  <a:srgbClr val="1A1A1A"/>
                </a:solidFill>
                <a:latin typeface="Calibri"/>
                <a:cs typeface="Calibri"/>
              </a:rPr>
              <a:t>Provenance on every line </a:t>
            </a:r>
            <a:r>
              <a:rPr lang="en-IN" sz="1200" dirty="0">
                <a:solidFill>
                  <a:srgbClr val="1A1A1A"/>
                </a:solidFill>
                <a:latin typeface="Calibri"/>
                <a:cs typeface="Calibri"/>
              </a:rPr>
              <a:t>— voice, tap or document — so the clinician can audit each claim</a:t>
            </a:r>
          </a:p>
          <a:p>
            <a:pPr marL="171450" indent="-171450">
              <a:spcBef>
                <a:spcPts val="300"/>
              </a:spcBef>
              <a:buClr>
                <a:srgbClr val="17365D"/>
              </a:buClr>
              <a:buFont typeface="Arial"/>
              <a:buChar char="•"/>
            </a:pPr>
            <a:r>
              <a:rPr lang="en-IN" sz="1200" dirty="0">
                <a:solidFill>
                  <a:srgbClr val="1A1A1A"/>
                </a:solidFill>
                <a:latin typeface="Calibri"/>
                <a:cs typeface="Calibri"/>
              </a:rPr>
              <a:t>The doctor accepts or amends; </a:t>
            </a:r>
            <a:r>
              <a:rPr lang="en-IN" sz="1200" b="1" dirty="0">
                <a:solidFill>
                  <a:srgbClr val="1A1A1A"/>
                </a:solidFill>
                <a:latin typeface="Calibri"/>
                <a:cs typeface="Calibri"/>
              </a:rPr>
              <a:t>the AI drafts, never diagnoses</a:t>
            </a:r>
          </a:p>
          <a:p>
            <a:pPr marL="171450" indent="-171450">
              <a:spcBef>
                <a:spcPts val="300"/>
              </a:spcBef>
              <a:buClr>
                <a:srgbClr val="17365D"/>
              </a:buClr>
              <a:buFont typeface="Arial"/>
              <a:buChar char="•"/>
            </a:pPr>
            <a:r>
              <a:rPr lang="en-IN" sz="1200" dirty="0">
                <a:solidFill>
                  <a:srgbClr val="1A1A1A"/>
                </a:solidFill>
                <a:latin typeface="Calibri"/>
                <a:cs typeface="Calibri"/>
              </a:rPr>
              <a:t>Follow-ups start from the previous visit's verified baseline, </a:t>
            </a:r>
            <a:r>
              <a:rPr lang="en-IN" sz="1200" b="1" dirty="0">
                <a:solidFill>
                  <a:srgbClr val="1A1A1A"/>
                </a:solidFill>
                <a:latin typeface="Calibri"/>
                <a:cs typeface="Calibri"/>
              </a:rPr>
              <a:t>ending repeated questioning</a:t>
            </a:r>
          </a:p>
          <a:p>
            <a:pPr marL="171450" indent="-171450">
              <a:spcBef>
                <a:spcPts val="300"/>
              </a:spcBef>
              <a:buClr>
                <a:srgbClr val="17365D"/>
              </a:buClr>
              <a:buFont typeface="Arial"/>
              <a:buChar char="•"/>
            </a:pPr>
            <a:r>
              <a:rPr lang="en-IN" sz="1200" b="1" dirty="0">
                <a:solidFill>
                  <a:srgbClr val="1A1A1A"/>
                </a:solidFill>
                <a:latin typeface="Calibri"/>
                <a:cs typeface="Calibri"/>
              </a:rPr>
              <a:t>Red flags are rules, not AI </a:t>
            </a:r>
            <a:r>
              <a:rPr lang="en-IN" sz="1200" dirty="0">
                <a:solidFill>
                  <a:srgbClr val="1A1A1A"/>
                </a:solidFill>
                <a:latin typeface="Calibri"/>
                <a:cs typeface="Calibri"/>
              </a:rPr>
              <a:t>— a missed emergency never depends on an API call succeeding</a:t>
            </a:r>
          </a:p>
        </p:txBody>
      </p:sp>
      <p:sp>
        <p:nvSpPr>
          <p:cNvPr id="2012" name="Step"/>
          <p:cNvSpPr/>
          <p:nvPr/>
        </p:nvSpPr>
        <p:spPr>
          <a:xfrm>
            <a:off x="502920" y="3931920"/>
            <a:ext cx="2017166" cy="1005840"/>
          </a:xfrm>
          <a:prstGeom prst="roundRect">
            <a:avLst>
              <a:gd name="adj" fmla="val 10000"/>
            </a:avLst>
          </a:prstGeom>
          <a:solidFill>
            <a:srgbClr val="EEF5FB"/>
          </a:solidFill>
          <a:ln w="9525">
            <a:solidFill>
              <a:srgbClr val="C7D8E6"/>
            </a:solidFill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buNone/>
            </a:pPr>
            <a:r>
              <a:rPr lang="en-IN" sz="1200" b="1" dirty="0">
                <a:solidFill>
                  <a:srgbClr val="0070C0"/>
                </a:solidFill>
                <a:latin typeface="Calibri"/>
                <a:cs typeface="Calibri"/>
              </a:rPr>
              <a:t>STEP 1</a:t>
            </a:r>
          </a:p>
          <a:p>
            <a:pPr algn="ctr">
              <a:spcBef>
                <a:spcPts val="80"/>
              </a:spcBef>
              <a:buNone/>
            </a:pPr>
            <a:r>
              <a:rPr lang="en-IN" sz="1200" b="1" dirty="0">
                <a:solidFill>
                  <a:srgbClr val="17365D"/>
                </a:solidFill>
                <a:latin typeface="Times New Roman"/>
                <a:cs typeface="Times New Roman"/>
              </a:rPr>
              <a:t>IDENTIFY</a:t>
            </a:r>
          </a:p>
          <a:p>
            <a:pPr algn="ctr">
              <a:spcBef>
                <a:spcPts val="60"/>
              </a:spcBef>
              <a:buNone/>
            </a:pPr>
            <a:r>
              <a:rPr lang="en-IN" sz="1200" dirty="0">
                <a:solidFill>
                  <a:srgbClr val="5F6B72"/>
                </a:solidFill>
                <a:latin typeface="Calibri"/>
                <a:cs typeface="Calibri"/>
              </a:rPr>
              <a:t>Mobile · ABHA · Aadhaar</a:t>
            </a:r>
          </a:p>
        </p:txBody>
      </p:sp>
      <p:sp>
        <p:nvSpPr>
          <p:cNvPr id="2013" name="Arrow"/>
          <p:cNvSpPr/>
          <p:nvPr/>
        </p:nvSpPr>
        <p:spPr>
          <a:xfrm>
            <a:off x="2547518" y="4297680"/>
            <a:ext cx="219456" cy="274320"/>
          </a:xfrm>
          <a:prstGeom prst="rightArrow">
            <a:avLst/>
          </a:prstGeom>
          <a:solidFill>
            <a:srgbClr val="2E9BD6"/>
          </a:solidFill>
          <a:ln>
            <a:noFill/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2014" name="Step"/>
          <p:cNvSpPr/>
          <p:nvPr/>
        </p:nvSpPr>
        <p:spPr>
          <a:xfrm>
            <a:off x="2794406" y="3931920"/>
            <a:ext cx="2017166" cy="1005840"/>
          </a:xfrm>
          <a:prstGeom prst="roundRect">
            <a:avLst>
              <a:gd name="adj" fmla="val 10000"/>
            </a:avLst>
          </a:prstGeom>
          <a:solidFill>
            <a:srgbClr val="EEF5FB"/>
          </a:solidFill>
          <a:ln w="9525">
            <a:solidFill>
              <a:srgbClr val="C7D8E6"/>
            </a:solidFill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buNone/>
            </a:pPr>
            <a:r>
              <a:rPr lang="en-IN" sz="1200" b="1" dirty="0">
                <a:solidFill>
                  <a:srgbClr val="0070C0"/>
                </a:solidFill>
                <a:latin typeface="Calibri"/>
                <a:cs typeface="Calibri"/>
              </a:rPr>
              <a:t>STEP 2</a:t>
            </a:r>
          </a:p>
          <a:p>
            <a:pPr algn="ctr">
              <a:spcBef>
                <a:spcPts val="80"/>
              </a:spcBef>
              <a:buNone/>
            </a:pPr>
            <a:r>
              <a:rPr lang="en-IN" sz="1200" b="1" dirty="0">
                <a:solidFill>
                  <a:srgbClr val="17365D"/>
                </a:solidFill>
                <a:latin typeface="Times New Roman"/>
                <a:cs typeface="Times New Roman"/>
              </a:rPr>
              <a:t>CONVERSE</a:t>
            </a:r>
          </a:p>
          <a:p>
            <a:pPr algn="ctr">
              <a:spcBef>
                <a:spcPts val="60"/>
              </a:spcBef>
              <a:buNone/>
            </a:pPr>
            <a:r>
              <a:rPr lang="en-IN" sz="1200" dirty="0">
                <a:solidFill>
                  <a:srgbClr val="5F6B72"/>
                </a:solidFill>
                <a:latin typeface="Calibri"/>
                <a:cs typeface="Calibri"/>
              </a:rPr>
              <a:t>Voice or tap, adaptive</a:t>
            </a:r>
          </a:p>
        </p:txBody>
      </p:sp>
      <p:sp>
        <p:nvSpPr>
          <p:cNvPr id="2015" name="Arrow"/>
          <p:cNvSpPr/>
          <p:nvPr/>
        </p:nvSpPr>
        <p:spPr>
          <a:xfrm>
            <a:off x="4839004" y="4297680"/>
            <a:ext cx="219456" cy="274320"/>
          </a:xfrm>
          <a:prstGeom prst="rightArrow">
            <a:avLst/>
          </a:prstGeom>
          <a:solidFill>
            <a:srgbClr val="2E9BD6"/>
          </a:solidFill>
          <a:ln>
            <a:noFill/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2016" name="Step"/>
          <p:cNvSpPr/>
          <p:nvPr/>
        </p:nvSpPr>
        <p:spPr>
          <a:xfrm>
            <a:off x="5085892" y="3931920"/>
            <a:ext cx="2017166" cy="1005840"/>
          </a:xfrm>
          <a:prstGeom prst="roundRect">
            <a:avLst>
              <a:gd name="adj" fmla="val 10000"/>
            </a:avLst>
          </a:prstGeom>
          <a:solidFill>
            <a:srgbClr val="EEF5FB"/>
          </a:solidFill>
          <a:ln w="9525">
            <a:solidFill>
              <a:srgbClr val="C7D8E6"/>
            </a:solidFill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buNone/>
            </a:pPr>
            <a:r>
              <a:rPr lang="en-IN" sz="1200" b="1" dirty="0">
                <a:solidFill>
                  <a:srgbClr val="0070C0"/>
                </a:solidFill>
                <a:latin typeface="Calibri"/>
                <a:cs typeface="Calibri"/>
              </a:rPr>
              <a:t>STEP 3</a:t>
            </a:r>
          </a:p>
          <a:p>
            <a:pPr algn="ctr">
              <a:spcBef>
                <a:spcPts val="80"/>
              </a:spcBef>
              <a:buNone/>
            </a:pPr>
            <a:r>
              <a:rPr lang="en-IN" sz="1200" b="1" dirty="0">
                <a:solidFill>
                  <a:srgbClr val="17365D"/>
                </a:solidFill>
                <a:latin typeface="Times New Roman"/>
                <a:cs typeface="Times New Roman"/>
              </a:rPr>
              <a:t>SCAN</a:t>
            </a:r>
          </a:p>
          <a:p>
            <a:pPr algn="ctr">
              <a:spcBef>
                <a:spcPts val="60"/>
              </a:spcBef>
              <a:buNone/>
            </a:pPr>
            <a:r>
              <a:rPr lang="en-IN" sz="1200" dirty="0">
                <a:solidFill>
                  <a:srgbClr val="5F6B72"/>
                </a:solidFill>
                <a:latin typeface="Calibri"/>
                <a:cs typeface="Calibri"/>
              </a:rPr>
              <a:t>Old reports digitised</a:t>
            </a:r>
          </a:p>
        </p:txBody>
      </p:sp>
      <p:sp>
        <p:nvSpPr>
          <p:cNvPr id="2017" name="Arrow"/>
          <p:cNvSpPr/>
          <p:nvPr/>
        </p:nvSpPr>
        <p:spPr>
          <a:xfrm>
            <a:off x="7130490" y="4297680"/>
            <a:ext cx="219456" cy="274320"/>
          </a:xfrm>
          <a:prstGeom prst="rightArrow">
            <a:avLst/>
          </a:prstGeom>
          <a:solidFill>
            <a:srgbClr val="2E9BD6"/>
          </a:solidFill>
          <a:ln>
            <a:noFill/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2018" name="Step"/>
          <p:cNvSpPr/>
          <p:nvPr/>
        </p:nvSpPr>
        <p:spPr>
          <a:xfrm>
            <a:off x="7377378" y="3931920"/>
            <a:ext cx="2017166" cy="1005840"/>
          </a:xfrm>
          <a:prstGeom prst="roundRect">
            <a:avLst>
              <a:gd name="adj" fmla="val 10000"/>
            </a:avLst>
          </a:prstGeom>
          <a:solidFill>
            <a:srgbClr val="EEF5FB"/>
          </a:solidFill>
          <a:ln w="9525">
            <a:solidFill>
              <a:srgbClr val="C7D8E6"/>
            </a:solidFill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buNone/>
            </a:pPr>
            <a:r>
              <a:rPr lang="en-IN" sz="1200" b="1" dirty="0">
                <a:solidFill>
                  <a:srgbClr val="0070C0"/>
                </a:solidFill>
                <a:latin typeface="Calibri"/>
                <a:cs typeface="Calibri"/>
              </a:rPr>
              <a:t>STEP 4</a:t>
            </a:r>
          </a:p>
          <a:p>
            <a:pPr algn="ctr">
              <a:spcBef>
                <a:spcPts val="80"/>
              </a:spcBef>
              <a:buNone/>
            </a:pPr>
            <a:r>
              <a:rPr lang="en-IN" sz="1200" b="1" dirty="0">
                <a:solidFill>
                  <a:srgbClr val="17365D"/>
                </a:solidFill>
                <a:latin typeface="Times New Roman"/>
                <a:cs typeface="Times New Roman"/>
              </a:rPr>
              <a:t>SUMMARISE</a:t>
            </a:r>
          </a:p>
          <a:p>
            <a:pPr algn="ctr">
              <a:spcBef>
                <a:spcPts val="60"/>
              </a:spcBef>
              <a:buNone/>
            </a:pPr>
            <a:r>
              <a:rPr lang="en-IN" sz="1200" dirty="0">
                <a:solidFill>
                  <a:srgbClr val="5F6B72"/>
                </a:solidFill>
                <a:latin typeface="Calibri"/>
                <a:cs typeface="Calibri"/>
              </a:rPr>
              <a:t>Structured, routed to HIS</a:t>
            </a:r>
          </a:p>
        </p:txBody>
      </p:sp>
      <p:sp>
        <p:nvSpPr>
          <p:cNvPr id="2019" name="Arrow"/>
          <p:cNvSpPr/>
          <p:nvPr/>
        </p:nvSpPr>
        <p:spPr>
          <a:xfrm>
            <a:off x="9421976" y="4297680"/>
            <a:ext cx="219456" cy="274320"/>
          </a:xfrm>
          <a:prstGeom prst="rightArrow">
            <a:avLst/>
          </a:prstGeom>
          <a:solidFill>
            <a:srgbClr val="2E9BD6"/>
          </a:solidFill>
          <a:ln>
            <a:noFill/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2020" name="Step"/>
          <p:cNvSpPr/>
          <p:nvPr/>
        </p:nvSpPr>
        <p:spPr>
          <a:xfrm>
            <a:off x="9668864" y="3931920"/>
            <a:ext cx="2017166" cy="1005840"/>
          </a:xfrm>
          <a:prstGeom prst="roundRect">
            <a:avLst>
              <a:gd name="adj" fmla="val 10000"/>
            </a:avLst>
          </a:prstGeom>
          <a:solidFill>
            <a:srgbClr val="EEF5FB"/>
          </a:solidFill>
          <a:ln w="9525">
            <a:solidFill>
              <a:srgbClr val="C7D8E6"/>
            </a:solidFill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buNone/>
            </a:pPr>
            <a:r>
              <a:rPr lang="en-IN" sz="1200" b="1" dirty="0">
                <a:solidFill>
                  <a:srgbClr val="0070C0"/>
                </a:solidFill>
                <a:latin typeface="Calibri"/>
                <a:cs typeface="Calibri"/>
              </a:rPr>
              <a:t>STEP 5</a:t>
            </a:r>
          </a:p>
          <a:p>
            <a:pPr algn="ctr">
              <a:spcBef>
                <a:spcPts val="80"/>
              </a:spcBef>
              <a:buNone/>
            </a:pPr>
            <a:r>
              <a:rPr lang="en-IN" sz="1200" b="1" dirty="0">
                <a:solidFill>
                  <a:srgbClr val="17365D"/>
                </a:solidFill>
                <a:latin typeface="Times New Roman"/>
                <a:cs typeface="Times New Roman"/>
              </a:rPr>
              <a:t>CONSULT</a:t>
            </a:r>
          </a:p>
          <a:p>
            <a:pPr algn="ctr">
              <a:spcBef>
                <a:spcPts val="60"/>
              </a:spcBef>
              <a:buNone/>
            </a:pPr>
            <a:r>
              <a:rPr lang="en-IN" sz="1200" dirty="0">
                <a:solidFill>
                  <a:srgbClr val="5F6B72"/>
                </a:solidFill>
                <a:latin typeface="Calibri"/>
                <a:cs typeface="Calibri"/>
              </a:rPr>
              <a:t>Doctor verifies, prescribes</a:t>
            </a:r>
          </a:p>
        </p:txBody>
      </p:sp>
      <p:sp>
        <p:nvSpPr>
          <p:cNvPr id="2021" name="Closing band"/>
          <p:cNvSpPr/>
          <p:nvPr/>
        </p:nvSpPr>
        <p:spPr>
          <a:xfrm>
            <a:off x="502920" y="5138928"/>
            <a:ext cx="11183112" cy="896112"/>
          </a:xfrm>
          <a:prstGeom prst="roundRect">
            <a:avLst>
              <a:gd name="adj" fmla="val 12000"/>
            </a:avLst>
          </a:prstGeom>
          <a:solidFill>
            <a:srgbClr val="EEF5FB"/>
          </a:solidFill>
          <a:ln w="9525">
            <a:solidFill>
              <a:srgbClr val="C7D8E6"/>
            </a:solidFill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buNone/>
            </a:pPr>
            <a:r>
              <a:rPr lang="en-IN" sz="1250" b="1" dirty="0">
                <a:solidFill>
                  <a:srgbClr val="17365D"/>
                </a:solidFill>
                <a:latin typeface="Times New Roman"/>
                <a:cs typeface="Times New Roman"/>
              </a:rPr>
              <a:t>Steps 1 to 4 are complete BEFORE the patient enters the consultation room.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 TEAM ORIANS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022" name="H1"/>
          <p:cNvSpPr txBox="1"/>
          <p:nvPr/>
        </p:nvSpPr>
        <p:spPr>
          <a:xfrm>
            <a:off x="502920" y="1170432"/>
            <a:ext cx="11183112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>
              <a:spcBef>
                <a:spcPts val="0"/>
              </a:spcBef>
              <a:buNone/>
            </a:pPr>
            <a:r>
              <a:rPr lang="en-IN" sz="1400" b="1" dirty="0">
                <a:solidFill>
                  <a:srgbClr val="17365D"/>
                </a:solidFill>
                <a:latin typeface="Times New Roman"/>
                <a:cs typeface="Times New Roman"/>
              </a:rPr>
              <a:t>TECHNOLOGIES TO BE USED</a:t>
            </a:r>
          </a:p>
        </p:txBody>
      </p:sp>
      <p:sp>
        <p:nvSpPr>
          <p:cNvPr id="2023" name="Stack card"/>
          <p:cNvSpPr/>
          <p:nvPr/>
        </p:nvSpPr>
        <p:spPr>
          <a:xfrm>
            <a:off x="502920" y="1444752"/>
            <a:ext cx="1757172" cy="7680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C7D8E6"/>
            </a:solidFill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2024" name="Stack head"/>
          <p:cNvSpPr/>
          <p:nvPr/>
        </p:nvSpPr>
        <p:spPr>
          <a:xfrm>
            <a:off x="502920" y="1444752"/>
            <a:ext cx="1757172" cy="237744"/>
          </a:xfrm>
          <a:prstGeom prst="roundRect">
            <a:avLst>
              <a:gd name="adj" fmla="val 26000"/>
            </a:avLst>
          </a:prstGeom>
          <a:solidFill>
            <a:srgbClr val="0070C0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buNone/>
            </a:pPr>
            <a:r>
              <a:rPr lang="en-IN" sz="1000" b="1" dirty="0">
                <a:solidFill>
                  <a:srgbClr val="FFFFFF"/>
                </a:solidFill>
                <a:latin typeface="Calibri"/>
                <a:cs typeface="Calibri"/>
              </a:rPr>
              <a:t>FRONTEND</a:t>
            </a:r>
          </a:p>
        </p:txBody>
      </p:sp>
      <p:sp>
        <p:nvSpPr>
          <p:cNvPr id="2025" name="Stack items"/>
          <p:cNvSpPr txBox="1"/>
          <p:nvPr/>
        </p:nvSpPr>
        <p:spPr>
          <a:xfrm>
            <a:off x="585216" y="1737360"/>
            <a:ext cx="159258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IN" sz="1200" dirty="0">
                <a:solidFill>
                  <a:srgbClr val="1A1A1A"/>
                </a:solidFill>
                <a:latin typeface="Calibri"/>
                <a:cs typeface="Calibri"/>
              </a:rPr>
              <a:t>Vanilla JS · literacy-free</a:t>
            </a:r>
          </a:p>
          <a:p>
            <a:pPr algn="ctr">
              <a:spcBef>
                <a:spcPts val="55"/>
              </a:spcBef>
              <a:buNone/>
            </a:pPr>
            <a:r>
              <a:rPr lang="en-IN" sz="1200" dirty="0">
                <a:solidFill>
                  <a:srgbClr val="1A1A1A"/>
                </a:solidFill>
                <a:latin typeface="Calibri"/>
                <a:cs typeface="Calibri"/>
              </a:rPr>
              <a:t>Patient login + records</a:t>
            </a:r>
          </a:p>
        </p:txBody>
      </p:sp>
      <p:sp>
        <p:nvSpPr>
          <p:cNvPr id="2026" name="Stack card"/>
          <p:cNvSpPr/>
          <p:nvPr/>
        </p:nvSpPr>
        <p:spPr>
          <a:xfrm>
            <a:off x="2388108" y="1444752"/>
            <a:ext cx="1757172" cy="7680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C7D8E6"/>
            </a:solidFill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2027" name="Stack head"/>
          <p:cNvSpPr/>
          <p:nvPr/>
        </p:nvSpPr>
        <p:spPr>
          <a:xfrm>
            <a:off x="2388108" y="1444752"/>
            <a:ext cx="1757172" cy="237744"/>
          </a:xfrm>
          <a:prstGeom prst="roundRect">
            <a:avLst>
              <a:gd name="adj" fmla="val 26000"/>
            </a:avLst>
          </a:prstGeom>
          <a:solidFill>
            <a:srgbClr val="17365D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buNone/>
            </a:pPr>
            <a:r>
              <a:rPr lang="en-IN" sz="1000" b="1" dirty="0">
                <a:solidFill>
                  <a:srgbClr val="FFFFFF"/>
                </a:solidFill>
                <a:latin typeface="Calibri"/>
                <a:cs typeface="Calibri"/>
              </a:rPr>
              <a:t>BACKEND</a:t>
            </a:r>
          </a:p>
        </p:txBody>
      </p:sp>
      <p:sp>
        <p:nvSpPr>
          <p:cNvPr id="2028" name="Stack items"/>
          <p:cNvSpPr txBox="1"/>
          <p:nvPr/>
        </p:nvSpPr>
        <p:spPr>
          <a:xfrm>
            <a:off x="2470404" y="1737360"/>
            <a:ext cx="159258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IN" sz="1200" dirty="0">
                <a:solidFill>
                  <a:srgbClr val="1A1A1A"/>
                </a:solidFill>
                <a:latin typeface="Calibri"/>
                <a:cs typeface="Calibri"/>
              </a:rPr>
              <a:t>Node.js + Firebase</a:t>
            </a:r>
          </a:p>
          <a:p>
            <a:pPr algn="ctr">
              <a:spcBef>
                <a:spcPts val="55"/>
              </a:spcBef>
              <a:buNone/>
            </a:pPr>
            <a:r>
              <a:rPr lang="en-IN" sz="1200" dirty="0">
                <a:solidFill>
                  <a:srgbClr val="1A1A1A"/>
                </a:solidFill>
                <a:latin typeface="Calibri"/>
                <a:cs typeface="Calibri"/>
              </a:rPr>
              <a:t>Firestore + Auth</a:t>
            </a:r>
          </a:p>
        </p:txBody>
      </p:sp>
      <p:sp>
        <p:nvSpPr>
          <p:cNvPr id="2029" name="Stack card"/>
          <p:cNvSpPr/>
          <p:nvPr/>
        </p:nvSpPr>
        <p:spPr>
          <a:xfrm>
            <a:off x="4273296" y="1444752"/>
            <a:ext cx="1757172" cy="7680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C7D8E6"/>
            </a:solidFill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2030" name="Stack head"/>
          <p:cNvSpPr/>
          <p:nvPr/>
        </p:nvSpPr>
        <p:spPr>
          <a:xfrm>
            <a:off x="4273296" y="1444752"/>
            <a:ext cx="1757172" cy="237744"/>
          </a:xfrm>
          <a:prstGeom prst="roundRect">
            <a:avLst>
              <a:gd name="adj" fmla="val 26000"/>
            </a:avLst>
          </a:prstGeom>
          <a:solidFill>
            <a:srgbClr val="1F7A5A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buNone/>
            </a:pPr>
            <a:r>
              <a:rPr lang="en-IN" sz="1000" b="1" dirty="0">
                <a:solidFill>
                  <a:srgbClr val="FFFFFF"/>
                </a:solidFill>
                <a:latin typeface="Calibri"/>
                <a:cs typeface="Calibri"/>
              </a:rPr>
              <a:t>VOICE</a:t>
            </a:r>
          </a:p>
        </p:txBody>
      </p:sp>
      <p:sp>
        <p:nvSpPr>
          <p:cNvPr id="2031" name="Stack items"/>
          <p:cNvSpPr txBox="1"/>
          <p:nvPr/>
        </p:nvSpPr>
        <p:spPr>
          <a:xfrm>
            <a:off x="4355592" y="1737360"/>
            <a:ext cx="159258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IN" sz="1200" dirty="0">
                <a:solidFill>
                  <a:srgbClr val="1A1A1A"/>
                </a:solidFill>
                <a:latin typeface="Calibri"/>
                <a:cs typeface="Calibri"/>
              </a:rPr>
              <a:t>Web Speech ASR + TTS</a:t>
            </a:r>
          </a:p>
          <a:p>
            <a:pPr algn="ctr">
              <a:spcBef>
                <a:spcPts val="55"/>
              </a:spcBef>
              <a:buNone/>
            </a:pPr>
            <a:r>
              <a:rPr lang="en-IN" sz="1200" dirty="0">
                <a:solidFill>
                  <a:srgbClr val="1A1A1A"/>
                </a:solidFill>
                <a:latin typeface="Calibri"/>
                <a:cs typeface="Calibri"/>
              </a:rPr>
              <a:t>Bhashini / AI4Bharat</a:t>
            </a:r>
          </a:p>
        </p:txBody>
      </p:sp>
      <p:sp>
        <p:nvSpPr>
          <p:cNvPr id="2032" name="Stack card"/>
          <p:cNvSpPr/>
          <p:nvPr/>
        </p:nvSpPr>
        <p:spPr>
          <a:xfrm>
            <a:off x="6158484" y="1444752"/>
            <a:ext cx="1757172" cy="7680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C7D8E6"/>
            </a:solidFill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2033" name="Stack head"/>
          <p:cNvSpPr/>
          <p:nvPr/>
        </p:nvSpPr>
        <p:spPr>
          <a:xfrm>
            <a:off x="6158484" y="1444752"/>
            <a:ext cx="1757172" cy="237744"/>
          </a:xfrm>
          <a:prstGeom prst="roundRect">
            <a:avLst>
              <a:gd name="adj" fmla="val 26000"/>
            </a:avLst>
          </a:prstGeom>
          <a:solidFill>
            <a:srgbClr val="2E9BD6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buNone/>
            </a:pPr>
            <a:r>
              <a:rPr lang="en-IN" sz="1000" b="1" dirty="0">
                <a:solidFill>
                  <a:srgbClr val="FFFFFF"/>
                </a:solidFill>
                <a:latin typeface="Calibri"/>
                <a:cs typeface="Calibri"/>
              </a:rPr>
              <a:t>AI LAYER</a:t>
            </a:r>
          </a:p>
        </p:txBody>
      </p:sp>
      <p:sp>
        <p:nvSpPr>
          <p:cNvPr id="2034" name="Stack items"/>
          <p:cNvSpPr txBox="1"/>
          <p:nvPr/>
        </p:nvSpPr>
        <p:spPr>
          <a:xfrm>
            <a:off x="6240780" y="1737360"/>
            <a:ext cx="159258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IN" sz="1200" dirty="0">
                <a:solidFill>
                  <a:srgbClr val="1A1A1A"/>
                </a:solidFill>
                <a:latin typeface="Calibri"/>
                <a:cs typeface="Calibri"/>
              </a:rPr>
              <a:t>Server-side LLM API</a:t>
            </a:r>
          </a:p>
          <a:p>
            <a:pPr algn="ctr">
              <a:spcBef>
                <a:spcPts val="55"/>
              </a:spcBef>
              <a:buNone/>
            </a:pPr>
            <a:r>
              <a:rPr lang="en-IN" sz="1200" dirty="0">
                <a:solidFill>
                  <a:srgbClr val="1A1A1A"/>
                </a:solidFill>
                <a:latin typeface="Calibri"/>
                <a:cs typeface="Calibri"/>
              </a:rPr>
              <a:t>Document vision OCR</a:t>
            </a:r>
          </a:p>
        </p:txBody>
      </p:sp>
      <p:sp>
        <p:nvSpPr>
          <p:cNvPr id="2035" name="Stack card"/>
          <p:cNvSpPr/>
          <p:nvPr/>
        </p:nvSpPr>
        <p:spPr>
          <a:xfrm>
            <a:off x="8043672" y="1444752"/>
            <a:ext cx="1757172" cy="7680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C7D8E6"/>
            </a:solidFill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2036" name="Stack head"/>
          <p:cNvSpPr/>
          <p:nvPr/>
        </p:nvSpPr>
        <p:spPr>
          <a:xfrm>
            <a:off x="8043672" y="1444752"/>
            <a:ext cx="1757172" cy="237744"/>
          </a:xfrm>
          <a:prstGeom prst="roundRect">
            <a:avLst>
              <a:gd name="adj" fmla="val 26000"/>
            </a:avLst>
          </a:prstGeom>
          <a:solidFill>
            <a:srgbClr val="B8791A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buNone/>
            </a:pPr>
            <a:r>
              <a:rPr lang="en-IN" sz="1000" b="1" dirty="0">
                <a:solidFill>
                  <a:srgbClr val="FFFFFF"/>
                </a:solidFill>
                <a:latin typeface="Calibri"/>
                <a:cs typeface="Calibri"/>
              </a:rPr>
              <a:t>STANDARDS</a:t>
            </a:r>
          </a:p>
        </p:txBody>
      </p:sp>
      <p:sp>
        <p:nvSpPr>
          <p:cNvPr id="2037" name="Stack items"/>
          <p:cNvSpPr txBox="1"/>
          <p:nvPr/>
        </p:nvSpPr>
        <p:spPr>
          <a:xfrm>
            <a:off x="8125968" y="1737360"/>
            <a:ext cx="159258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IN" sz="1200" dirty="0">
                <a:solidFill>
                  <a:srgbClr val="1A1A1A"/>
                </a:solidFill>
                <a:latin typeface="Calibri"/>
                <a:cs typeface="Calibri"/>
              </a:rPr>
              <a:t>FHIR R4 + ABHA linkage</a:t>
            </a:r>
          </a:p>
          <a:p>
            <a:pPr algn="ctr">
              <a:spcBef>
                <a:spcPts val="55"/>
              </a:spcBef>
              <a:buNone/>
            </a:pPr>
            <a:r>
              <a:rPr lang="en-IN" sz="1200" dirty="0">
                <a:solidFill>
                  <a:srgbClr val="1A1A1A"/>
                </a:solidFill>
                <a:latin typeface="Calibri"/>
                <a:cs typeface="Calibri"/>
              </a:rPr>
              <a:t>ICD-10 + NAMASTE</a:t>
            </a:r>
          </a:p>
        </p:txBody>
      </p:sp>
      <p:sp>
        <p:nvSpPr>
          <p:cNvPr id="2038" name="Stack card"/>
          <p:cNvSpPr/>
          <p:nvPr/>
        </p:nvSpPr>
        <p:spPr>
          <a:xfrm>
            <a:off x="9928860" y="1444752"/>
            <a:ext cx="1757172" cy="7680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C7D8E6"/>
            </a:solidFill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2039" name="Stack head"/>
          <p:cNvSpPr/>
          <p:nvPr/>
        </p:nvSpPr>
        <p:spPr>
          <a:xfrm>
            <a:off x="9928860" y="1444752"/>
            <a:ext cx="1757172" cy="237744"/>
          </a:xfrm>
          <a:prstGeom prst="roundRect">
            <a:avLst>
              <a:gd name="adj" fmla="val 26000"/>
            </a:avLst>
          </a:prstGeom>
          <a:solidFill>
            <a:srgbClr val="B23A2B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buNone/>
            </a:pPr>
            <a:r>
              <a:rPr lang="en-IN" sz="1000" b="1" dirty="0">
                <a:solidFill>
                  <a:srgbClr val="FFFFFF"/>
                </a:solidFill>
                <a:latin typeface="Calibri"/>
                <a:cs typeface="Calibri"/>
              </a:rPr>
              <a:t>SECURITY</a:t>
            </a:r>
          </a:p>
        </p:txBody>
      </p:sp>
      <p:sp>
        <p:nvSpPr>
          <p:cNvPr id="2040" name="Stack items"/>
          <p:cNvSpPr txBox="1"/>
          <p:nvPr/>
        </p:nvSpPr>
        <p:spPr>
          <a:xfrm>
            <a:off x="10011156" y="1737360"/>
            <a:ext cx="159258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IN" sz="1200" dirty="0">
                <a:solidFill>
                  <a:srgbClr val="1A1A1A"/>
                </a:solidFill>
                <a:latin typeface="Calibri"/>
                <a:cs typeface="Calibri"/>
              </a:rPr>
              <a:t>DPDP-2023 consent</a:t>
            </a:r>
          </a:p>
          <a:p>
            <a:pPr algn="ctr">
              <a:spcBef>
                <a:spcPts val="55"/>
              </a:spcBef>
              <a:buNone/>
            </a:pPr>
            <a:r>
              <a:rPr lang="en-IN" sz="1200" dirty="0">
                <a:solidFill>
                  <a:srgbClr val="1A1A1A"/>
                </a:solidFill>
                <a:latin typeface="Calibri"/>
                <a:cs typeface="Calibri"/>
              </a:rPr>
              <a:t>Aadhaar Verhoeff check</a:t>
            </a:r>
          </a:p>
        </p:txBody>
      </p:sp>
      <p:sp>
        <p:nvSpPr>
          <p:cNvPr id="2041" name="H2"/>
          <p:cNvSpPr txBox="1"/>
          <p:nvPr/>
        </p:nvSpPr>
        <p:spPr>
          <a:xfrm>
            <a:off x="502920" y="2359152"/>
            <a:ext cx="11183112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>
              <a:spcBef>
                <a:spcPts val="0"/>
              </a:spcBef>
              <a:buNone/>
            </a:pPr>
            <a:r>
              <a:rPr lang="en-IN" sz="1400" b="1" dirty="0">
                <a:solidFill>
                  <a:srgbClr val="17365D"/>
                </a:solidFill>
                <a:latin typeface="Times New Roman"/>
                <a:cs typeface="Times New Roman"/>
              </a:rPr>
              <a:t>METHODOLOGY AND PROCESS FOR IMPLEMENTATION</a:t>
            </a:r>
          </a:p>
        </p:txBody>
      </p:sp>
      <p:sp>
        <p:nvSpPr>
          <p:cNvPr id="2042" name="Diagram bg"/>
          <p:cNvSpPr/>
          <p:nvPr/>
        </p:nvSpPr>
        <p:spPr>
          <a:xfrm>
            <a:off x="502920" y="2578608"/>
            <a:ext cx="11183112" cy="2468880"/>
          </a:xfrm>
          <a:prstGeom prst="roundRect">
            <a:avLst>
              <a:gd name="adj" fmla="val 3000"/>
            </a:avLst>
          </a:prstGeom>
          <a:solidFill>
            <a:srgbClr val="FBFDFF"/>
          </a:solidFill>
          <a:ln w="9525">
            <a:solidFill>
              <a:srgbClr val="C7D8E6"/>
            </a:solidFill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2043" name="Lane label"/>
          <p:cNvSpPr/>
          <p:nvPr/>
        </p:nvSpPr>
        <p:spPr>
          <a:xfrm>
            <a:off x="576072" y="2670048"/>
            <a:ext cx="932688" cy="676656"/>
          </a:xfrm>
          <a:prstGeom prst="roundRect">
            <a:avLst>
              <a:gd name="adj" fmla="val 14000"/>
            </a:avLst>
          </a:prstGeom>
          <a:solidFill>
            <a:srgbClr val="0070C0"/>
          </a:solidFill>
          <a:ln>
            <a:noFill/>
          </a:ln>
        </p:spPr>
        <p:txBody>
          <a:bodyPr wrap="square" lIns="0" tIns="329184" rIns="0" bIns="64008" anchor="ctr"/>
          <a:lstStyle/>
          <a:p>
            <a:pPr algn="ctr">
              <a:spcBef>
                <a:spcPts val="0"/>
              </a:spcBef>
              <a:buNone/>
            </a:pPr>
            <a:r>
              <a:rPr lang="en-IN" sz="1200" b="1" dirty="0">
                <a:solidFill>
                  <a:srgbClr val="FFFFFF"/>
                </a:solidFill>
                <a:latin typeface="Times New Roman"/>
                <a:cs typeface="Times New Roman"/>
              </a:rPr>
              <a:t>PATIENT</a:t>
            </a:r>
          </a:p>
        </p:txBody>
      </p:sp>
      <p:sp>
        <p:nvSpPr>
          <p:cNvPr id="2044" name="Flow box"/>
          <p:cNvSpPr/>
          <p:nvPr/>
        </p:nvSpPr>
        <p:spPr>
          <a:xfrm>
            <a:off x="1581912" y="2670048"/>
            <a:ext cx="2212848" cy="676656"/>
          </a:xfrm>
          <a:prstGeom prst="roundRect">
            <a:avLst>
              <a:gd name="adj" fmla="val 12000"/>
            </a:avLst>
          </a:prstGeom>
          <a:solidFill>
            <a:srgbClr val="EEF5FB"/>
          </a:solidFill>
          <a:ln w="9525">
            <a:solidFill>
              <a:srgbClr val="0070C0"/>
            </a:solidFill>
          </a:ln>
        </p:spPr>
        <p:txBody>
          <a:bodyPr wrap="square" lIns="457200" tIns="155448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IN" sz="1200" b="1" dirty="0">
                <a:solidFill>
                  <a:srgbClr val="17365D"/>
                </a:solidFill>
                <a:latin typeface="Times New Roman"/>
                <a:cs typeface="Times New Roman"/>
              </a:rPr>
              <a:t>IDENTIFY</a:t>
            </a:r>
          </a:p>
          <a:p>
            <a:pPr algn="ctr">
              <a:spcBef>
                <a:spcPts val="60"/>
              </a:spcBef>
              <a:buNone/>
            </a:pPr>
            <a:r>
              <a:rPr lang="en-IN" sz="950" dirty="0">
                <a:solidFill>
                  <a:srgbClr val="5F6B72"/>
                </a:solidFill>
                <a:latin typeface="Calibri"/>
                <a:cs typeface="Calibri"/>
              </a:rPr>
              <a:t>Mobile · ABHA · Aadhaar · Login</a:t>
            </a:r>
          </a:p>
        </p:txBody>
      </p:sp>
      <p:sp>
        <p:nvSpPr>
          <p:cNvPr id="2045" name="Arrow"/>
          <p:cNvSpPr/>
          <p:nvPr/>
        </p:nvSpPr>
        <p:spPr>
          <a:xfrm>
            <a:off x="3840480" y="2898648"/>
            <a:ext cx="274320" cy="219456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2046" name="Flow box"/>
          <p:cNvSpPr/>
          <p:nvPr/>
        </p:nvSpPr>
        <p:spPr>
          <a:xfrm>
            <a:off x="4160520" y="2670048"/>
            <a:ext cx="2212848" cy="676656"/>
          </a:xfrm>
          <a:prstGeom prst="roundRect">
            <a:avLst>
              <a:gd name="adj" fmla="val 12000"/>
            </a:avLst>
          </a:prstGeom>
          <a:solidFill>
            <a:srgbClr val="EEF5FB"/>
          </a:solidFill>
          <a:ln w="9525">
            <a:solidFill>
              <a:srgbClr val="0070C0"/>
            </a:solidFill>
          </a:ln>
        </p:spPr>
        <p:txBody>
          <a:bodyPr wrap="square" lIns="457200" tIns="155448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IN" sz="1200" b="1" dirty="0">
                <a:solidFill>
                  <a:srgbClr val="17365D"/>
                </a:solidFill>
                <a:latin typeface="Times New Roman"/>
                <a:cs typeface="Times New Roman"/>
              </a:rPr>
              <a:t>CONSENT</a:t>
            </a:r>
          </a:p>
          <a:p>
            <a:pPr algn="ctr">
              <a:spcBef>
                <a:spcPts val="60"/>
              </a:spcBef>
              <a:buNone/>
            </a:pPr>
            <a:r>
              <a:rPr lang="en-IN" sz="950" dirty="0">
                <a:solidFill>
                  <a:srgbClr val="5F6B72"/>
                </a:solidFill>
                <a:latin typeface="Calibri"/>
                <a:cs typeface="Calibri"/>
              </a:rPr>
              <a:t>Granular, DPDP-2023</a:t>
            </a:r>
          </a:p>
        </p:txBody>
      </p:sp>
      <p:sp>
        <p:nvSpPr>
          <p:cNvPr id="2047" name="Arrow"/>
          <p:cNvSpPr/>
          <p:nvPr/>
        </p:nvSpPr>
        <p:spPr>
          <a:xfrm>
            <a:off x="6419088" y="2898648"/>
            <a:ext cx="274320" cy="219456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2048" name="Flow box"/>
          <p:cNvSpPr/>
          <p:nvPr/>
        </p:nvSpPr>
        <p:spPr>
          <a:xfrm>
            <a:off x="6793992" y="2670048"/>
            <a:ext cx="2212848" cy="676656"/>
          </a:xfrm>
          <a:prstGeom prst="roundRect">
            <a:avLst>
              <a:gd name="adj" fmla="val 12000"/>
            </a:avLst>
          </a:prstGeom>
          <a:solidFill>
            <a:srgbClr val="EEF5FB"/>
          </a:solidFill>
          <a:ln w="9525">
            <a:solidFill>
              <a:srgbClr val="0070C0"/>
            </a:solidFill>
          </a:ln>
        </p:spPr>
        <p:txBody>
          <a:bodyPr wrap="square" lIns="457200" tIns="155448" rIns="0" bIns="0" anchor="t"/>
          <a:lstStyle/>
          <a:p>
            <a:pPr>
              <a:spcBef>
                <a:spcPts val="0"/>
              </a:spcBef>
              <a:buNone/>
            </a:pPr>
            <a:r>
              <a:rPr lang="en-IN" sz="1200" b="1" dirty="0">
                <a:solidFill>
                  <a:srgbClr val="17365D"/>
                </a:solidFill>
                <a:latin typeface="Times New Roman"/>
                <a:cs typeface="Times New Roman"/>
              </a:rPr>
              <a:t>       INTERVIEW</a:t>
            </a:r>
          </a:p>
          <a:p>
            <a:pPr>
              <a:spcBef>
                <a:spcPts val="60"/>
              </a:spcBef>
              <a:buNone/>
            </a:pPr>
            <a:r>
              <a:rPr lang="en-IN" sz="950" dirty="0">
                <a:solidFill>
                  <a:srgbClr val="5F6B72"/>
                </a:solidFill>
                <a:latin typeface="Calibri"/>
                <a:cs typeface="Calibri"/>
              </a:rPr>
              <a:t>      Voice or tap · adaptive     </a:t>
            </a:r>
            <a:r>
              <a:rPr lang="en-IN" sz="950" b="1" dirty="0">
                <a:solidFill>
                  <a:srgbClr val="5F6B72"/>
                </a:solidFill>
                <a:latin typeface="Calibri"/>
                <a:cs typeface="Calibri"/>
              </a:rPr>
              <a:t>Ayurveda 27 Q · Allopathy 18 Q</a:t>
            </a:r>
            <a:endParaRPr lang="en-IN" sz="950" dirty="0">
              <a:solidFill>
                <a:srgbClr val="5F6B72"/>
              </a:solidFill>
              <a:latin typeface="Calibri"/>
              <a:cs typeface="Calibri"/>
            </a:endParaRPr>
          </a:p>
          <a:p>
            <a:pPr algn="ctr">
              <a:spcBef>
                <a:spcPts val="60"/>
              </a:spcBef>
              <a:buNone/>
            </a:pPr>
            <a:endParaRPr lang="en-IN" sz="950" b="1" dirty="0">
              <a:solidFill>
                <a:srgbClr val="5F6B72"/>
              </a:solidFill>
              <a:latin typeface="Calibri"/>
              <a:cs typeface="Calibri"/>
            </a:endParaRPr>
          </a:p>
        </p:txBody>
      </p:sp>
      <p:sp>
        <p:nvSpPr>
          <p:cNvPr id="2049" name="Arrow"/>
          <p:cNvSpPr/>
          <p:nvPr/>
        </p:nvSpPr>
        <p:spPr>
          <a:xfrm>
            <a:off x="8997696" y="2898648"/>
            <a:ext cx="274320" cy="219456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2050" name="Flow box"/>
          <p:cNvSpPr/>
          <p:nvPr/>
        </p:nvSpPr>
        <p:spPr>
          <a:xfrm>
            <a:off x="9317736" y="2670048"/>
            <a:ext cx="2212848" cy="676656"/>
          </a:xfrm>
          <a:prstGeom prst="roundRect">
            <a:avLst>
              <a:gd name="adj" fmla="val 12000"/>
            </a:avLst>
          </a:prstGeom>
          <a:solidFill>
            <a:srgbClr val="EEF5FB"/>
          </a:solidFill>
          <a:ln w="9525">
            <a:solidFill>
              <a:srgbClr val="0070C0"/>
            </a:solidFill>
          </a:ln>
        </p:spPr>
        <p:txBody>
          <a:bodyPr wrap="square" lIns="457200" tIns="155448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IN" sz="1200" b="1" dirty="0">
                <a:solidFill>
                  <a:srgbClr val="17365D"/>
                </a:solidFill>
                <a:latin typeface="Times New Roman"/>
                <a:cs typeface="Times New Roman"/>
              </a:rPr>
              <a:t>SCAN</a:t>
            </a:r>
          </a:p>
          <a:p>
            <a:pPr algn="ctr">
              <a:spcBef>
                <a:spcPts val="60"/>
              </a:spcBef>
              <a:buNone/>
            </a:pPr>
            <a:r>
              <a:rPr lang="en-IN" sz="950" dirty="0">
                <a:solidFill>
                  <a:srgbClr val="5F6B72"/>
                </a:solidFill>
                <a:latin typeface="Calibri"/>
                <a:cs typeface="Calibri"/>
              </a:rPr>
              <a:t>Prescriptions &amp; reports</a:t>
            </a:r>
          </a:p>
        </p:txBody>
      </p:sp>
      <p:sp>
        <p:nvSpPr>
          <p:cNvPr id="2051" name="Arrow"/>
          <p:cNvSpPr/>
          <p:nvPr/>
        </p:nvSpPr>
        <p:spPr>
          <a:xfrm>
            <a:off x="2551176" y="3351276"/>
            <a:ext cx="274320" cy="118872"/>
          </a:xfrm>
          <a:prstGeom prst="downArrow">
            <a:avLst/>
          </a:prstGeom>
          <a:solidFill>
            <a:srgbClr val="5F6B72"/>
          </a:solidFill>
          <a:ln>
            <a:noFill/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2052" name="Arrow"/>
          <p:cNvSpPr/>
          <p:nvPr/>
        </p:nvSpPr>
        <p:spPr>
          <a:xfrm>
            <a:off x="7708392" y="3351276"/>
            <a:ext cx="274320" cy="118872"/>
          </a:xfrm>
          <a:prstGeom prst="downArrow">
            <a:avLst/>
          </a:prstGeom>
          <a:solidFill>
            <a:srgbClr val="5F6B72"/>
          </a:solidFill>
          <a:ln>
            <a:noFill/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2053" name="Lane label"/>
          <p:cNvSpPr/>
          <p:nvPr/>
        </p:nvSpPr>
        <p:spPr>
          <a:xfrm>
            <a:off x="576072" y="3474720"/>
            <a:ext cx="932688" cy="676656"/>
          </a:xfrm>
          <a:prstGeom prst="roundRect">
            <a:avLst>
              <a:gd name="adj" fmla="val 14000"/>
            </a:avLst>
          </a:prstGeom>
          <a:solidFill>
            <a:srgbClr val="1F7A5A"/>
          </a:solidFill>
          <a:ln>
            <a:noFill/>
          </a:ln>
        </p:spPr>
        <p:txBody>
          <a:bodyPr wrap="square" lIns="0" tIns="329184" rIns="0" bIns="64008" anchor="ctr"/>
          <a:lstStyle/>
          <a:p>
            <a:pPr algn="ctr">
              <a:spcBef>
                <a:spcPts val="0"/>
              </a:spcBef>
              <a:buNone/>
            </a:pPr>
            <a:r>
              <a:rPr lang="en-IN" sz="1200" b="1" dirty="0">
                <a:solidFill>
                  <a:srgbClr val="FFFFFF"/>
                </a:solidFill>
                <a:latin typeface="Times New Roman"/>
                <a:cs typeface="Times New Roman"/>
              </a:rPr>
              <a:t>SYSTEM</a:t>
            </a:r>
          </a:p>
        </p:txBody>
      </p:sp>
      <p:sp>
        <p:nvSpPr>
          <p:cNvPr id="2054" name="Flow box"/>
          <p:cNvSpPr/>
          <p:nvPr/>
        </p:nvSpPr>
        <p:spPr>
          <a:xfrm>
            <a:off x="1581912" y="3474720"/>
            <a:ext cx="2212848" cy="676656"/>
          </a:xfrm>
          <a:prstGeom prst="roundRect">
            <a:avLst>
              <a:gd name="adj" fmla="val 12000"/>
            </a:avLst>
          </a:prstGeom>
          <a:solidFill>
            <a:srgbClr val="FBE9E6"/>
          </a:solidFill>
          <a:ln w="9525">
            <a:solidFill>
              <a:srgbClr val="B23A2B"/>
            </a:solidFill>
          </a:ln>
        </p:spPr>
        <p:txBody>
          <a:bodyPr wrap="square" lIns="457200" tIns="155448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IN" sz="1200" b="1" dirty="0">
                <a:solidFill>
                  <a:srgbClr val="B23A2B"/>
                </a:solidFill>
                <a:latin typeface="Times New Roman"/>
                <a:cs typeface="Times New Roman"/>
              </a:rPr>
              <a:t>RED-FLAG ENGINE</a:t>
            </a:r>
          </a:p>
          <a:p>
            <a:pPr algn="ctr">
              <a:spcBef>
                <a:spcPts val="60"/>
              </a:spcBef>
              <a:buNone/>
            </a:pPr>
            <a:r>
              <a:rPr lang="en-IN" sz="950" dirty="0">
                <a:solidFill>
                  <a:srgbClr val="5F6B72"/>
                </a:solidFill>
                <a:latin typeface="Calibri"/>
                <a:cs typeface="Calibri"/>
              </a:rPr>
              <a:t>rules, not AI</a:t>
            </a:r>
          </a:p>
        </p:txBody>
      </p:sp>
      <p:sp>
        <p:nvSpPr>
          <p:cNvPr id="2055" name="Arrow"/>
          <p:cNvSpPr/>
          <p:nvPr/>
        </p:nvSpPr>
        <p:spPr>
          <a:xfrm>
            <a:off x="3840480" y="3703320"/>
            <a:ext cx="274320" cy="219456"/>
          </a:xfrm>
          <a:prstGeom prst="rightArrow">
            <a:avLst/>
          </a:prstGeom>
          <a:solidFill>
            <a:srgbClr val="1F7A5A"/>
          </a:solidFill>
          <a:ln>
            <a:noFill/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2056" name="Flow box"/>
          <p:cNvSpPr/>
          <p:nvPr/>
        </p:nvSpPr>
        <p:spPr>
          <a:xfrm>
            <a:off x="4160520" y="3474720"/>
            <a:ext cx="2212848" cy="676656"/>
          </a:xfrm>
          <a:prstGeom prst="roundRect">
            <a:avLst>
              <a:gd name="adj" fmla="val 12000"/>
            </a:avLst>
          </a:prstGeom>
          <a:solidFill>
            <a:srgbClr val="F1F8F4"/>
          </a:solidFill>
          <a:ln w="9525">
            <a:solidFill>
              <a:srgbClr val="1F7A5A"/>
            </a:solidFill>
          </a:ln>
        </p:spPr>
        <p:txBody>
          <a:bodyPr wrap="square" lIns="457200" tIns="155448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IN" sz="1200" b="1" dirty="0">
                <a:solidFill>
                  <a:srgbClr val="17365D"/>
                </a:solidFill>
                <a:latin typeface="Times New Roman"/>
                <a:cs typeface="Times New Roman"/>
              </a:rPr>
              <a:t>OCR + TIMELINE</a:t>
            </a:r>
          </a:p>
          <a:p>
            <a:pPr algn="ctr">
              <a:spcBef>
                <a:spcPts val="60"/>
              </a:spcBef>
              <a:buNone/>
            </a:pPr>
            <a:r>
              <a:rPr lang="en-IN" sz="950" dirty="0">
                <a:solidFill>
                  <a:srgbClr val="5F6B72"/>
                </a:solidFill>
                <a:latin typeface="Calibri"/>
                <a:cs typeface="Calibri"/>
              </a:rPr>
              <a:t>diagnoses · drugs · labs · dated</a:t>
            </a:r>
          </a:p>
        </p:txBody>
      </p:sp>
      <p:sp>
        <p:nvSpPr>
          <p:cNvPr id="2057" name="Arrow"/>
          <p:cNvSpPr/>
          <p:nvPr/>
        </p:nvSpPr>
        <p:spPr>
          <a:xfrm>
            <a:off x="6419088" y="3703320"/>
            <a:ext cx="274320" cy="219456"/>
          </a:xfrm>
          <a:prstGeom prst="rightArrow">
            <a:avLst/>
          </a:prstGeom>
          <a:solidFill>
            <a:srgbClr val="1F7A5A"/>
          </a:solidFill>
          <a:ln>
            <a:noFill/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2058" name="Flow box"/>
          <p:cNvSpPr/>
          <p:nvPr/>
        </p:nvSpPr>
        <p:spPr>
          <a:xfrm>
            <a:off x="6739128" y="3474720"/>
            <a:ext cx="2212848" cy="676656"/>
          </a:xfrm>
          <a:prstGeom prst="roundRect">
            <a:avLst>
              <a:gd name="adj" fmla="val 12000"/>
            </a:avLst>
          </a:prstGeom>
          <a:solidFill>
            <a:srgbClr val="F1F8F4"/>
          </a:solidFill>
          <a:ln w="9525">
            <a:solidFill>
              <a:srgbClr val="1F7A5A"/>
            </a:solidFill>
          </a:ln>
        </p:spPr>
        <p:txBody>
          <a:bodyPr wrap="square" lIns="457200" tIns="155448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IN" sz="1200" b="1" dirty="0">
                <a:solidFill>
                  <a:srgbClr val="17365D"/>
                </a:solidFill>
                <a:latin typeface="Times New Roman"/>
                <a:cs typeface="Times New Roman"/>
              </a:rPr>
              <a:t>AI SUMMARY</a:t>
            </a:r>
          </a:p>
          <a:p>
            <a:pPr algn="ctr">
              <a:spcBef>
                <a:spcPts val="60"/>
              </a:spcBef>
              <a:buNone/>
            </a:pPr>
            <a:r>
              <a:rPr lang="en-IN" sz="950" dirty="0">
                <a:solidFill>
                  <a:srgbClr val="5F6B72"/>
                </a:solidFill>
                <a:latin typeface="Calibri"/>
                <a:cs typeface="Calibri"/>
              </a:rPr>
              <a:t>HPI · differentials</a:t>
            </a:r>
          </a:p>
        </p:txBody>
      </p:sp>
      <p:sp>
        <p:nvSpPr>
          <p:cNvPr id="2059" name="Arrow"/>
          <p:cNvSpPr/>
          <p:nvPr/>
        </p:nvSpPr>
        <p:spPr>
          <a:xfrm>
            <a:off x="8997696" y="3703320"/>
            <a:ext cx="274320" cy="219456"/>
          </a:xfrm>
          <a:prstGeom prst="rightArrow">
            <a:avLst/>
          </a:prstGeom>
          <a:solidFill>
            <a:srgbClr val="1F7A5A"/>
          </a:solidFill>
          <a:ln>
            <a:noFill/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2060" name="Flow box"/>
          <p:cNvSpPr/>
          <p:nvPr/>
        </p:nvSpPr>
        <p:spPr>
          <a:xfrm>
            <a:off x="9317736" y="3474720"/>
            <a:ext cx="2212848" cy="676656"/>
          </a:xfrm>
          <a:prstGeom prst="roundRect">
            <a:avLst>
              <a:gd name="adj" fmla="val 12000"/>
            </a:avLst>
          </a:prstGeom>
          <a:solidFill>
            <a:srgbClr val="F1F8F4"/>
          </a:solidFill>
          <a:ln w="9525">
            <a:solidFill>
              <a:srgbClr val="1F7A5A"/>
            </a:solidFill>
          </a:ln>
        </p:spPr>
        <p:txBody>
          <a:bodyPr wrap="square" lIns="457200" tIns="155448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IN" sz="1200" b="1" dirty="0">
                <a:solidFill>
                  <a:srgbClr val="17365D"/>
                </a:solidFill>
                <a:latin typeface="Times New Roman"/>
                <a:cs typeface="Times New Roman"/>
              </a:rPr>
              <a:t>FHIR → ABHA / HIS</a:t>
            </a:r>
          </a:p>
          <a:p>
            <a:pPr algn="ctr">
              <a:spcBef>
                <a:spcPts val="60"/>
              </a:spcBef>
              <a:buNone/>
            </a:pPr>
            <a:endParaRPr lang="en-IN" sz="950" dirty="0">
              <a:solidFill>
                <a:srgbClr val="B8791A"/>
              </a:solidFill>
              <a:latin typeface="Calibri"/>
              <a:cs typeface="Calibri"/>
            </a:endParaRPr>
          </a:p>
        </p:txBody>
      </p:sp>
      <p:sp>
        <p:nvSpPr>
          <p:cNvPr id="2061" name="Arrow"/>
          <p:cNvSpPr/>
          <p:nvPr/>
        </p:nvSpPr>
        <p:spPr>
          <a:xfrm>
            <a:off x="2551176" y="4155948"/>
            <a:ext cx="274320" cy="118872"/>
          </a:xfrm>
          <a:prstGeom prst="downArrow">
            <a:avLst/>
          </a:prstGeom>
          <a:solidFill>
            <a:srgbClr val="5F6B72"/>
          </a:solidFill>
          <a:ln>
            <a:noFill/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2062" name="Arrow"/>
          <p:cNvSpPr/>
          <p:nvPr/>
        </p:nvSpPr>
        <p:spPr>
          <a:xfrm>
            <a:off x="7708392" y="4155948"/>
            <a:ext cx="274320" cy="118872"/>
          </a:xfrm>
          <a:prstGeom prst="downArrow">
            <a:avLst/>
          </a:prstGeom>
          <a:solidFill>
            <a:srgbClr val="5F6B72"/>
          </a:solidFill>
          <a:ln>
            <a:noFill/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2063" name="Lane label"/>
          <p:cNvSpPr/>
          <p:nvPr/>
        </p:nvSpPr>
        <p:spPr>
          <a:xfrm>
            <a:off x="576072" y="4279392"/>
            <a:ext cx="932688" cy="676656"/>
          </a:xfrm>
          <a:prstGeom prst="roundRect">
            <a:avLst>
              <a:gd name="adj" fmla="val 14000"/>
            </a:avLst>
          </a:prstGeom>
          <a:solidFill>
            <a:srgbClr val="17365D"/>
          </a:solidFill>
          <a:ln>
            <a:noFill/>
          </a:ln>
        </p:spPr>
        <p:txBody>
          <a:bodyPr wrap="square" lIns="0" tIns="329184" rIns="0" bIns="64008" anchor="ctr"/>
          <a:lstStyle/>
          <a:p>
            <a:pPr algn="ctr">
              <a:spcBef>
                <a:spcPts val="0"/>
              </a:spcBef>
              <a:buNone/>
            </a:pPr>
            <a:r>
              <a:rPr lang="en-IN" sz="1200" b="1" dirty="0">
                <a:solidFill>
                  <a:srgbClr val="FFFFFF"/>
                </a:solidFill>
                <a:latin typeface="Times New Roman"/>
                <a:cs typeface="Times New Roman"/>
              </a:rPr>
              <a:t>DOCTOR</a:t>
            </a:r>
          </a:p>
        </p:txBody>
      </p:sp>
      <p:sp>
        <p:nvSpPr>
          <p:cNvPr id="2064" name="Flow box"/>
          <p:cNvSpPr/>
          <p:nvPr/>
        </p:nvSpPr>
        <p:spPr>
          <a:xfrm>
            <a:off x="1581912" y="4279392"/>
            <a:ext cx="2212848" cy="676656"/>
          </a:xfrm>
          <a:prstGeom prst="roundRect">
            <a:avLst>
              <a:gd name="adj" fmla="val 12000"/>
            </a:avLst>
          </a:prstGeom>
          <a:solidFill>
            <a:srgbClr val="EEF5FB"/>
          </a:solidFill>
          <a:ln w="9525">
            <a:solidFill>
              <a:srgbClr val="17365D"/>
            </a:solidFill>
          </a:ln>
        </p:spPr>
        <p:txBody>
          <a:bodyPr wrap="square" lIns="457200" tIns="155448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IN" sz="1200" b="1" dirty="0">
                <a:solidFill>
                  <a:srgbClr val="17365D"/>
                </a:solidFill>
                <a:latin typeface="Times New Roman"/>
                <a:cs typeface="Times New Roman"/>
              </a:rPr>
              <a:t>LIVE QUEUE</a:t>
            </a:r>
          </a:p>
          <a:p>
            <a:pPr algn="ctr">
              <a:spcBef>
                <a:spcPts val="60"/>
              </a:spcBef>
              <a:buNone/>
            </a:pPr>
            <a:r>
              <a:rPr lang="en-IN" sz="950" dirty="0">
                <a:solidFill>
                  <a:srgbClr val="5F6B72"/>
                </a:solidFill>
                <a:latin typeface="Calibri"/>
                <a:cs typeface="Calibri"/>
              </a:rPr>
              <a:t>red flags first</a:t>
            </a:r>
          </a:p>
        </p:txBody>
      </p:sp>
      <p:sp>
        <p:nvSpPr>
          <p:cNvPr id="2065" name="Arrow"/>
          <p:cNvSpPr/>
          <p:nvPr/>
        </p:nvSpPr>
        <p:spPr>
          <a:xfrm>
            <a:off x="3840480" y="4507992"/>
            <a:ext cx="274320" cy="219456"/>
          </a:xfrm>
          <a:prstGeom prst="rightArrow">
            <a:avLst/>
          </a:prstGeom>
          <a:solidFill>
            <a:srgbClr val="17365D"/>
          </a:solidFill>
          <a:ln>
            <a:noFill/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2066" name="Flow box"/>
          <p:cNvSpPr/>
          <p:nvPr/>
        </p:nvSpPr>
        <p:spPr>
          <a:xfrm>
            <a:off x="4160520" y="4279392"/>
            <a:ext cx="2212848" cy="676656"/>
          </a:xfrm>
          <a:prstGeom prst="roundRect">
            <a:avLst>
              <a:gd name="adj" fmla="val 12000"/>
            </a:avLst>
          </a:prstGeom>
          <a:solidFill>
            <a:srgbClr val="EEF5FB"/>
          </a:solidFill>
          <a:ln w="9525">
            <a:solidFill>
              <a:srgbClr val="17365D"/>
            </a:solidFill>
          </a:ln>
        </p:spPr>
        <p:txBody>
          <a:bodyPr wrap="square" lIns="457200" tIns="155448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IN" sz="1200" b="1" dirty="0">
                <a:solidFill>
                  <a:srgbClr val="17365D"/>
                </a:solidFill>
                <a:latin typeface="Times New Roman"/>
                <a:cs typeface="Times New Roman"/>
              </a:rPr>
              <a:t>VERIFIED SUMMARY</a:t>
            </a:r>
          </a:p>
          <a:p>
            <a:pPr algn="ctr">
              <a:spcBef>
                <a:spcPts val="60"/>
              </a:spcBef>
              <a:buNone/>
            </a:pPr>
            <a:r>
              <a:rPr lang="en-IN" sz="950" dirty="0">
                <a:solidFill>
                  <a:srgbClr val="5F6B72"/>
                </a:solidFill>
                <a:latin typeface="Calibri"/>
                <a:cs typeface="Calibri"/>
              </a:rPr>
              <a:t>provenance per line</a:t>
            </a:r>
          </a:p>
        </p:txBody>
      </p:sp>
      <p:sp>
        <p:nvSpPr>
          <p:cNvPr id="2067" name="Arrow"/>
          <p:cNvSpPr/>
          <p:nvPr/>
        </p:nvSpPr>
        <p:spPr>
          <a:xfrm>
            <a:off x="6419088" y="4507992"/>
            <a:ext cx="274320" cy="219456"/>
          </a:xfrm>
          <a:prstGeom prst="rightArrow">
            <a:avLst/>
          </a:prstGeom>
          <a:solidFill>
            <a:srgbClr val="17365D"/>
          </a:solidFill>
          <a:ln>
            <a:noFill/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2068" name="Flow box"/>
          <p:cNvSpPr/>
          <p:nvPr/>
        </p:nvSpPr>
        <p:spPr>
          <a:xfrm>
            <a:off x="6739128" y="4279392"/>
            <a:ext cx="2212848" cy="676656"/>
          </a:xfrm>
          <a:prstGeom prst="roundRect">
            <a:avLst>
              <a:gd name="adj" fmla="val 12000"/>
            </a:avLst>
          </a:prstGeom>
          <a:solidFill>
            <a:srgbClr val="EEF5FB"/>
          </a:solidFill>
          <a:ln w="9525">
            <a:solidFill>
              <a:srgbClr val="17365D"/>
            </a:solidFill>
          </a:ln>
        </p:spPr>
        <p:txBody>
          <a:bodyPr wrap="square" lIns="457200" tIns="155448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IN" sz="1200" b="1" dirty="0">
                <a:solidFill>
                  <a:srgbClr val="17365D"/>
                </a:solidFill>
                <a:latin typeface="Times New Roman"/>
                <a:cs typeface="Times New Roman"/>
              </a:rPr>
              <a:t>ACCEPT / AMEND</a:t>
            </a:r>
          </a:p>
          <a:p>
            <a:pPr algn="ctr">
              <a:spcBef>
                <a:spcPts val="60"/>
              </a:spcBef>
              <a:buNone/>
            </a:pPr>
            <a:r>
              <a:rPr lang="en-IN" sz="950" dirty="0">
                <a:solidFill>
                  <a:srgbClr val="5F6B72"/>
                </a:solidFill>
                <a:latin typeface="Calibri"/>
                <a:cs typeface="Calibri"/>
              </a:rPr>
              <a:t>the clinician decides</a:t>
            </a:r>
          </a:p>
        </p:txBody>
      </p:sp>
      <p:sp>
        <p:nvSpPr>
          <p:cNvPr id="2069" name="Arrow"/>
          <p:cNvSpPr/>
          <p:nvPr/>
        </p:nvSpPr>
        <p:spPr>
          <a:xfrm>
            <a:off x="8997696" y="4507992"/>
            <a:ext cx="274320" cy="219456"/>
          </a:xfrm>
          <a:prstGeom prst="rightArrow">
            <a:avLst/>
          </a:prstGeom>
          <a:solidFill>
            <a:srgbClr val="17365D"/>
          </a:solidFill>
          <a:ln>
            <a:noFill/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2070" name="Flow box"/>
          <p:cNvSpPr/>
          <p:nvPr/>
        </p:nvSpPr>
        <p:spPr>
          <a:xfrm>
            <a:off x="9317736" y="4279392"/>
            <a:ext cx="2212848" cy="676656"/>
          </a:xfrm>
          <a:prstGeom prst="roundRect">
            <a:avLst>
              <a:gd name="adj" fmla="val 12000"/>
            </a:avLst>
          </a:prstGeom>
          <a:solidFill>
            <a:srgbClr val="EEF5FB"/>
          </a:solidFill>
          <a:ln w="9525">
            <a:solidFill>
              <a:srgbClr val="17365D"/>
            </a:solidFill>
          </a:ln>
        </p:spPr>
        <p:txBody>
          <a:bodyPr wrap="square" lIns="457200" tIns="155448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IN" sz="1200" b="1" dirty="0">
                <a:solidFill>
                  <a:srgbClr val="17365D"/>
                </a:solidFill>
                <a:latin typeface="Times New Roman"/>
                <a:cs typeface="Times New Roman"/>
              </a:rPr>
              <a:t>PRESCRIBE</a:t>
            </a:r>
          </a:p>
          <a:p>
            <a:pPr algn="ctr">
              <a:spcBef>
                <a:spcPts val="60"/>
              </a:spcBef>
              <a:buNone/>
            </a:pPr>
            <a:r>
              <a:rPr lang="en-IN" sz="950" dirty="0">
                <a:solidFill>
                  <a:srgbClr val="5F6B72"/>
                </a:solidFill>
                <a:latin typeface="Calibri"/>
                <a:cs typeface="Calibri"/>
              </a:rPr>
              <a:t>becomes next baseline</a:t>
            </a:r>
          </a:p>
        </p:txBody>
      </p:sp>
      <p:sp>
        <p:nvSpPr>
          <p:cNvPr id="2071" name="Loop"/>
          <p:cNvSpPr/>
          <p:nvPr/>
        </p:nvSpPr>
        <p:spPr>
          <a:xfrm>
            <a:off x="1581912" y="5047488"/>
            <a:ext cx="10012680" cy="274320"/>
          </a:xfrm>
          <a:prstGeom prst="roundRect">
            <a:avLst>
              <a:gd name="adj" fmla="val 40000"/>
            </a:avLst>
          </a:prstGeom>
          <a:solidFill>
            <a:srgbClr val="F1F8F4"/>
          </a:solidFill>
          <a:ln w="9525">
            <a:solidFill>
              <a:srgbClr val="1F7A5A"/>
            </a:solidFill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buNone/>
            </a:pPr>
            <a:r>
              <a:rPr lang="en-IN" sz="1100" b="1" dirty="0">
                <a:solidFill>
                  <a:srgbClr val="1F7A5A"/>
                </a:solidFill>
                <a:latin typeface="Calibri"/>
                <a:cs typeface="Calibri"/>
              </a:rPr>
              <a:t>the verified record becomes the baseline that the next follow-up interview starts from</a:t>
            </a:r>
          </a:p>
        </p:txBody>
      </p:sp>
      <p:sp>
        <p:nvSpPr>
          <p:cNvPr id="2072" name="Proto"/>
          <p:cNvSpPr/>
          <p:nvPr/>
        </p:nvSpPr>
        <p:spPr>
          <a:xfrm>
            <a:off x="3703320" y="5486400"/>
            <a:ext cx="7982712" cy="658368"/>
          </a:xfrm>
          <a:prstGeom prst="roundRect">
            <a:avLst>
              <a:gd name="adj" fmla="val 25000"/>
            </a:avLst>
          </a:prstGeom>
          <a:solidFill>
            <a:srgbClr val="EEF5FB"/>
          </a:solidFill>
          <a:ln w="9525">
            <a:solidFill>
              <a:srgbClr val="C7D8E6"/>
            </a:solidFill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buNone/>
            </a:pPr>
            <a:r>
              <a:rPr lang="en-IN" sz="1200" b="1" dirty="0">
                <a:solidFill>
                  <a:srgbClr val="0070C0"/>
                </a:solidFill>
                <a:latin typeface="Times New Roman"/>
                <a:cs typeface="Times New Roman"/>
              </a:rPr>
              <a:t>WORKING PROTOTYPE:  </a:t>
            </a:r>
            <a:r>
              <a:rPr lang="en-IN" sz="1200" dirty="0">
                <a:solidFill>
                  <a:srgbClr val="17365D"/>
                </a:solidFill>
                <a:latin typeface="Calibri"/>
                <a:cs typeface="Calibri"/>
              </a:rPr>
              <a:t>kiosk and doctor console run end to end offline on any machine with Node 18+ — no install, no cloud setup, no API key needed to demo.</a:t>
            </a:r>
          </a:p>
        </p:txBody>
      </p:sp>
      <p:pic>
        <p:nvPicPr>
          <p:cNvPr id="17410" name="tech_frontend" descr="Monito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" y="1483614"/>
            <a:ext cx="160020" cy="160020"/>
          </a:xfrm>
          <a:prstGeom prst="rect">
            <a:avLst/>
          </a:prstGeom>
        </p:spPr>
      </p:pic>
      <p:pic>
        <p:nvPicPr>
          <p:cNvPr id="17411" name="tech_backend" descr="Server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70404" y="1483614"/>
            <a:ext cx="160020" cy="160020"/>
          </a:xfrm>
          <a:prstGeom prst="rect">
            <a:avLst/>
          </a:prstGeom>
        </p:spPr>
      </p:pic>
      <p:pic>
        <p:nvPicPr>
          <p:cNvPr id="17412" name="tech_voice" descr="Microphon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55592" y="1483614"/>
            <a:ext cx="160020" cy="160020"/>
          </a:xfrm>
          <a:prstGeom prst="rect">
            <a:avLst/>
          </a:prstGeom>
        </p:spPr>
      </p:pic>
      <p:pic>
        <p:nvPicPr>
          <p:cNvPr id="17413" name="tech_ai" descr="Robot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0780" y="1483614"/>
            <a:ext cx="160020" cy="160020"/>
          </a:xfrm>
          <a:prstGeom prst="rect">
            <a:avLst/>
          </a:prstGeom>
        </p:spPr>
      </p:pic>
      <p:pic>
        <p:nvPicPr>
          <p:cNvPr id="17414" name="tech_standards" descr="Clipboard with a tick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25968" y="1483614"/>
            <a:ext cx="160020" cy="160020"/>
          </a:xfrm>
          <a:prstGeom prst="rect">
            <a:avLst/>
          </a:prstGeom>
        </p:spPr>
      </p:pic>
      <p:pic>
        <p:nvPicPr>
          <p:cNvPr id="17415" name="tech_security" descr="Padlock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11156" y="1483614"/>
            <a:ext cx="160020" cy="160020"/>
          </a:xfrm>
          <a:prstGeom prst="rect">
            <a:avLst/>
          </a:prstGeom>
        </p:spPr>
      </p:pic>
      <p:pic>
        <p:nvPicPr>
          <p:cNvPr id="17416" name="lane_patient" descr="Person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4400" y="2761488"/>
            <a:ext cx="256032" cy="256032"/>
          </a:xfrm>
          <a:prstGeom prst="rect">
            <a:avLst/>
          </a:prstGeom>
        </p:spPr>
      </p:pic>
      <p:pic>
        <p:nvPicPr>
          <p:cNvPr id="17417" name="flow_identify" descr="Mobile phone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82496" y="2852928"/>
            <a:ext cx="310896" cy="310896"/>
          </a:xfrm>
          <a:prstGeom prst="rect">
            <a:avLst/>
          </a:prstGeom>
        </p:spPr>
      </p:pic>
      <p:pic>
        <p:nvPicPr>
          <p:cNvPr id="17418" name="flow_consent" descr="Shield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61104" y="2852928"/>
            <a:ext cx="310896" cy="310896"/>
          </a:xfrm>
          <a:prstGeom prst="rect">
            <a:avLst/>
          </a:prstGeom>
        </p:spPr>
      </p:pic>
      <p:pic>
        <p:nvPicPr>
          <p:cNvPr id="17419" name="flow_interview" descr="Speech bubble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39712" y="2852928"/>
            <a:ext cx="310896" cy="310896"/>
          </a:xfrm>
          <a:prstGeom prst="rect">
            <a:avLst/>
          </a:prstGeom>
        </p:spPr>
      </p:pic>
      <p:pic>
        <p:nvPicPr>
          <p:cNvPr id="17420" name="flow_scan" descr="Camera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418320" y="2852928"/>
            <a:ext cx="310896" cy="310896"/>
          </a:xfrm>
          <a:prstGeom prst="rect">
            <a:avLst/>
          </a:prstGeom>
        </p:spPr>
      </p:pic>
      <p:pic>
        <p:nvPicPr>
          <p:cNvPr id="17421" name="lane_system" descr="Processor chip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14400" y="3566160"/>
            <a:ext cx="256032" cy="256032"/>
          </a:xfrm>
          <a:prstGeom prst="rect">
            <a:avLst/>
          </a:prstGeom>
        </p:spPr>
      </p:pic>
      <p:pic>
        <p:nvPicPr>
          <p:cNvPr id="17422" name="flow_redflag" descr="Warning triangle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682496" y="3657600"/>
            <a:ext cx="310896" cy="310896"/>
          </a:xfrm>
          <a:prstGeom prst="rect">
            <a:avLst/>
          </a:prstGeom>
        </p:spPr>
      </p:pic>
      <p:pic>
        <p:nvPicPr>
          <p:cNvPr id="17423" name="flow_ocr" descr="Document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261104" y="3657600"/>
            <a:ext cx="310896" cy="310896"/>
          </a:xfrm>
          <a:prstGeom prst="rect">
            <a:avLst/>
          </a:prstGeom>
        </p:spPr>
      </p:pic>
      <p:pic>
        <p:nvPicPr>
          <p:cNvPr id="17424" name="flow_summary" descr="Sparkles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839712" y="3657600"/>
            <a:ext cx="310896" cy="310896"/>
          </a:xfrm>
          <a:prstGeom prst="rect">
            <a:avLst/>
          </a:prstGeom>
        </p:spPr>
      </p:pic>
      <p:pic>
        <p:nvPicPr>
          <p:cNvPr id="17425" name="flow_fhir" descr="Upload to cloud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418320" y="3657600"/>
            <a:ext cx="310896" cy="310896"/>
          </a:xfrm>
          <a:prstGeom prst="rect">
            <a:avLst/>
          </a:prstGeom>
        </p:spPr>
      </p:pic>
      <p:pic>
        <p:nvPicPr>
          <p:cNvPr id="17426" name="lane_doctor" descr="Stethoscope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14400" y="4370832"/>
            <a:ext cx="256032" cy="256032"/>
          </a:xfrm>
          <a:prstGeom prst="rect">
            <a:avLst/>
          </a:prstGeom>
        </p:spPr>
      </p:pic>
      <p:pic>
        <p:nvPicPr>
          <p:cNvPr id="17427" name="flow_queue" descr="List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682496" y="4462272"/>
            <a:ext cx="310896" cy="310896"/>
          </a:xfrm>
          <a:prstGeom prst="rect">
            <a:avLst/>
          </a:prstGeom>
        </p:spPr>
      </p:pic>
      <p:pic>
        <p:nvPicPr>
          <p:cNvPr id="17428" name="flow_verified" descr="Tick in a circle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261104" y="4462272"/>
            <a:ext cx="310896" cy="310896"/>
          </a:xfrm>
          <a:prstGeom prst="rect">
            <a:avLst/>
          </a:prstGeom>
        </p:spPr>
      </p:pic>
      <p:pic>
        <p:nvPicPr>
          <p:cNvPr id="17429" name="flow_amend" descr="Pencil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839712" y="4462272"/>
            <a:ext cx="310896" cy="310896"/>
          </a:xfrm>
          <a:prstGeom prst="rect">
            <a:avLst/>
          </a:prstGeom>
        </p:spPr>
      </p:pic>
      <p:pic>
        <p:nvPicPr>
          <p:cNvPr id="17430" name="flow_prescribe" descr="Rx symbol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418320" y="4462272"/>
            <a:ext cx="310896" cy="310896"/>
          </a:xfrm>
          <a:prstGeom prst="rect">
            <a:avLst/>
          </a:prstGeom>
        </p:spPr>
      </p:pic>
      <p:sp>
        <p:nvSpPr>
          <p:cNvPr id="17431" name="Mocked dot" descr="Amber dot marking a mocked integration"/>
          <p:cNvSpPr/>
          <p:nvPr/>
        </p:nvSpPr>
        <p:spPr>
          <a:xfrm>
            <a:off x="11329416" y="3557016"/>
            <a:ext cx="109728" cy="109728"/>
          </a:xfrm>
          <a:prstGeom prst="ellipse">
            <a:avLst/>
          </a:prstGeom>
          <a:solidFill>
            <a:srgbClr val="B879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2" name="Stat"/>
          <p:cNvSpPr/>
          <p:nvPr/>
        </p:nvSpPr>
        <p:spPr>
          <a:xfrm>
            <a:off x="502920" y="5486400"/>
            <a:ext cx="3017520" cy="658368"/>
          </a:xfrm>
          <a:prstGeom prst="roundRect">
            <a:avLst>
              <a:gd name="adj" fmla="val 10000"/>
            </a:avLst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r>
              <a:rPr sz="1500" b="1" dirty="0">
                <a:solidFill>
                  <a:srgbClr val="FFFFFF"/>
                </a:solidFill>
                <a:latin typeface="Times New Roman"/>
              </a:rPr>
              <a:t>18</a:t>
            </a:r>
            <a:r>
              <a:rPr lang="en-IN" sz="1500" b="1" dirty="0">
                <a:solidFill>
                  <a:srgbClr val="FFFFFF"/>
                </a:solidFill>
                <a:latin typeface="Times New Roman"/>
              </a:rPr>
              <a:t> - </a:t>
            </a:r>
            <a:r>
              <a:rPr sz="1500" b="1" dirty="0">
                <a:solidFill>
                  <a:srgbClr val="FFFFFF"/>
                </a:solidFill>
                <a:latin typeface="Times New Roman"/>
              </a:rPr>
              <a:t>27 QUESTIONS</a:t>
            </a:r>
          </a:p>
          <a:p>
            <a:pPr algn="ctr"/>
            <a:r>
              <a:rPr sz="950" dirty="0">
                <a:solidFill>
                  <a:srgbClr val="BFD3E6"/>
                </a:solidFill>
                <a:latin typeface="Calibri"/>
              </a:rPr>
              <a:t>allopathy or ayurveda, chosen before the interview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 TEAM ORIANS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073" name="Card body"/>
          <p:cNvSpPr/>
          <p:nvPr/>
        </p:nvSpPr>
        <p:spPr>
          <a:xfrm>
            <a:off x="502920" y="1243584"/>
            <a:ext cx="5468112" cy="2560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C7D8E6"/>
            </a:solidFill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2074" name="Card head"/>
          <p:cNvSpPr/>
          <p:nvPr/>
        </p:nvSpPr>
        <p:spPr>
          <a:xfrm>
            <a:off x="502920" y="1243584"/>
            <a:ext cx="5468112" cy="292608"/>
          </a:xfrm>
          <a:prstGeom prst="roundRect">
            <a:avLst>
              <a:gd name="adj" fmla="val 26000"/>
            </a:avLst>
          </a:prstGeom>
          <a:solidFill>
            <a:srgbClr val="0070C0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buNone/>
            </a:pPr>
            <a:r>
              <a:rPr lang="en-IN" sz="1400" b="1" dirty="0">
                <a:solidFill>
                  <a:srgbClr val="FFFFFF"/>
                </a:solidFill>
                <a:latin typeface="Times New Roman"/>
                <a:cs typeface="Times New Roman"/>
              </a:rPr>
              <a:t>ANALYSIS OF THE FEASIBILITY OF THE IDEA</a:t>
            </a:r>
          </a:p>
        </p:txBody>
      </p:sp>
      <p:sp>
        <p:nvSpPr>
          <p:cNvPr id="2075" name="Card text"/>
          <p:cNvSpPr txBox="1"/>
          <p:nvPr/>
        </p:nvSpPr>
        <p:spPr>
          <a:xfrm>
            <a:off x="649224" y="1618488"/>
            <a:ext cx="5175504" cy="2103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171450" indent="-171450">
              <a:spcBef>
                <a:spcPts val="320"/>
              </a:spcBef>
              <a:buClr>
                <a:srgbClr val="0070C0"/>
              </a:buClr>
              <a:buFont typeface="Arial"/>
              <a:buChar char="•"/>
            </a:pPr>
            <a:r>
              <a:rPr lang="en-IN" sz="1200" b="1" dirty="0">
                <a:solidFill>
                  <a:srgbClr val="1A1A1A"/>
                </a:solidFill>
                <a:latin typeface="Calibri"/>
                <a:cs typeface="Calibri"/>
              </a:rPr>
              <a:t>Deployable today </a:t>
            </a:r>
            <a:r>
              <a:rPr lang="en-IN" sz="1200" dirty="0">
                <a:solidFill>
                  <a:srgbClr val="1A1A1A"/>
                </a:solidFill>
                <a:latin typeface="Calibri"/>
                <a:cs typeface="Calibri"/>
              </a:rPr>
              <a:t>— runs on any hospital PC with Node 18+; no cloud dependency, no vendor lock-in</a:t>
            </a:r>
          </a:p>
          <a:p>
            <a:pPr marL="171450" indent="-171450">
              <a:spcBef>
                <a:spcPts val="320"/>
              </a:spcBef>
              <a:buClr>
                <a:srgbClr val="0070C0"/>
              </a:buClr>
              <a:buFont typeface="Arial"/>
              <a:buChar char="•"/>
            </a:pPr>
            <a:r>
              <a:rPr lang="en-IN" sz="1200" b="1" dirty="0">
                <a:solidFill>
                  <a:srgbClr val="1A1A1A"/>
                </a:solidFill>
                <a:latin typeface="Calibri"/>
                <a:cs typeface="Calibri"/>
              </a:rPr>
              <a:t>Already working end to end </a:t>
            </a:r>
            <a:r>
              <a:rPr lang="en-IN" sz="1200" dirty="0">
                <a:solidFill>
                  <a:srgbClr val="1A1A1A"/>
                </a:solidFill>
                <a:latin typeface="Calibri"/>
                <a:cs typeface="Calibri"/>
              </a:rPr>
              <a:t>— a running prototype, not a concept</a:t>
            </a:r>
          </a:p>
          <a:p>
            <a:pPr marL="171450" indent="-171450">
              <a:spcBef>
                <a:spcPts val="320"/>
              </a:spcBef>
              <a:buClr>
                <a:srgbClr val="0070C0"/>
              </a:buClr>
              <a:buFont typeface="Arial"/>
              <a:buChar char="•"/>
            </a:pPr>
            <a:r>
              <a:rPr lang="en-IN" sz="1200" b="1" dirty="0">
                <a:solidFill>
                  <a:srgbClr val="1A1A1A"/>
                </a:solidFill>
                <a:latin typeface="Calibri"/>
                <a:cs typeface="Calibri"/>
              </a:rPr>
              <a:t>Commodity hardware only</a:t>
            </a:r>
            <a:r>
              <a:rPr lang="en-IN" sz="1200" dirty="0">
                <a:solidFill>
                  <a:srgbClr val="1A1A1A"/>
                </a:solidFill>
                <a:latin typeface="Calibri"/>
                <a:cs typeface="Calibri"/>
              </a:rPr>
              <a:t> — touchscreen, microphone and document camera</a:t>
            </a:r>
          </a:p>
          <a:p>
            <a:pPr marL="171450" indent="-171450">
              <a:spcBef>
                <a:spcPts val="320"/>
              </a:spcBef>
              <a:buClr>
                <a:srgbClr val="0070C0"/>
              </a:buClr>
              <a:buFont typeface="Arial"/>
              <a:buChar char="•"/>
            </a:pPr>
            <a:r>
              <a:rPr lang="en-IN" sz="1200" b="1" dirty="0">
                <a:solidFill>
                  <a:srgbClr val="1A1A1A"/>
                </a:solidFill>
                <a:latin typeface="Calibri"/>
                <a:cs typeface="Calibri"/>
              </a:rPr>
              <a:t>Standards already exist </a:t>
            </a:r>
            <a:r>
              <a:rPr lang="en-IN" sz="1200" dirty="0">
                <a:solidFill>
                  <a:srgbClr val="1A1A1A"/>
                </a:solidFill>
                <a:latin typeface="Calibri"/>
                <a:cs typeface="Calibri"/>
              </a:rPr>
              <a:t>— ABDM, ABHA, FHIR and NAMASTE are national infrastructure</a:t>
            </a:r>
          </a:p>
          <a:p>
            <a:pPr marL="171450" indent="-171450">
              <a:spcBef>
                <a:spcPts val="320"/>
              </a:spcBef>
              <a:buClr>
                <a:srgbClr val="0070C0"/>
              </a:buClr>
              <a:buFont typeface="Arial"/>
              <a:buChar char="•"/>
            </a:pPr>
            <a:r>
              <a:rPr lang="en-IN" sz="1200" b="1" dirty="0">
                <a:solidFill>
                  <a:srgbClr val="1A1A1A"/>
                </a:solidFill>
                <a:latin typeface="Calibri"/>
                <a:cs typeface="Calibri"/>
              </a:rPr>
              <a:t>Degrades safely </a:t>
            </a:r>
            <a:r>
              <a:rPr lang="en-IN" sz="1200" dirty="0">
                <a:solidFill>
                  <a:srgbClr val="1A1A1A"/>
                </a:solidFill>
                <a:latin typeface="Calibri"/>
                <a:cs typeface="Calibri"/>
              </a:rPr>
              <a:t>— with no AI key it still runs; scans still reach the doctor as images</a:t>
            </a:r>
          </a:p>
          <a:p>
            <a:pPr marL="171450" indent="-171450">
              <a:spcBef>
                <a:spcPts val="320"/>
              </a:spcBef>
              <a:buClr>
                <a:srgbClr val="0070C0"/>
              </a:buClr>
              <a:buFont typeface="Arial"/>
              <a:buChar char="•"/>
            </a:pPr>
            <a:r>
              <a:rPr lang="en-IN" sz="1200" b="1" dirty="0">
                <a:solidFill>
                  <a:srgbClr val="1A1A1A"/>
                </a:solidFill>
                <a:latin typeface="Calibri"/>
                <a:cs typeface="Calibri"/>
              </a:rPr>
              <a:t>Content is data, not code </a:t>
            </a:r>
            <a:r>
              <a:rPr lang="en-IN" sz="1200" dirty="0">
                <a:solidFill>
                  <a:srgbClr val="1A1A1A"/>
                </a:solidFill>
                <a:latin typeface="Calibri"/>
                <a:cs typeface="Calibri"/>
              </a:rPr>
              <a:t>— the interview can be re-authored for any AYUSH stream</a:t>
            </a:r>
          </a:p>
        </p:txBody>
      </p:sp>
      <p:sp>
        <p:nvSpPr>
          <p:cNvPr id="2076" name="Card body"/>
          <p:cNvSpPr/>
          <p:nvPr/>
        </p:nvSpPr>
        <p:spPr>
          <a:xfrm>
            <a:off x="6217920" y="1243584"/>
            <a:ext cx="5468112" cy="2560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C7D8E6"/>
            </a:solidFill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2077" name="Card head"/>
          <p:cNvSpPr/>
          <p:nvPr/>
        </p:nvSpPr>
        <p:spPr>
          <a:xfrm>
            <a:off x="6217920" y="1243584"/>
            <a:ext cx="5468112" cy="292608"/>
          </a:xfrm>
          <a:prstGeom prst="roundRect">
            <a:avLst>
              <a:gd name="adj" fmla="val 26000"/>
            </a:avLst>
          </a:prstGeom>
          <a:solidFill>
            <a:srgbClr val="B8791A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buNone/>
            </a:pPr>
            <a:r>
              <a:rPr lang="en-IN" sz="1400" b="1" dirty="0">
                <a:solidFill>
                  <a:srgbClr val="FFFFFF"/>
                </a:solidFill>
                <a:latin typeface="Times New Roman"/>
                <a:cs typeface="Times New Roman"/>
              </a:rPr>
              <a:t>CHALLENGES AND RISKS  →  MITIGATION</a:t>
            </a:r>
          </a:p>
        </p:txBody>
      </p:sp>
      <p:sp>
        <p:nvSpPr>
          <p:cNvPr id="2078" name="Card text"/>
          <p:cNvSpPr txBox="1"/>
          <p:nvPr/>
        </p:nvSpPr>
        <p:spPr>
          <a:xfrm>
            <a:off x="6364224" y="1618488"/>
            <a:ext cx="5175504" cy="2103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171450" indent="-171450">
              <a:spcBef>
                <a:spcPts val="320"/>
              </a:spcBef>
              <a:buClr>
                <a:srgbClr val="B8791A"/>
              </a:buClr>
              <a:buFont typeface="Arial"/>
              <a:buChar char="•"/>
            </a:pPr>
            <a:r>
              <a:rPr lang="en-IN" sz="1100" b="1" dirty="0">
                <a:solidFill>
                  <a:srgbClr val="17365D"/>
                </a:solidFill>
                <a:latin typeface="Calibri"/>
                <a:cs typeface="Calibri"/>
              </a:rPr>
              <a:t>Noisy OPD degrades speech recognition  →  </a:t>
            </a:r>
            <a:r>
              <a:rPr lang="en-IN" sz="1100" dirty="0">
                <a:solidFill>
                  <a:srgbClr val="1A1A1A"/>
                </a:solidFill>
                <a:latin typeface="Calibri"/>
                <a:cs typeface="Calibri"/>
              </a:rPr>
              <a:t>every question also answerable by tap; a typed path is always present</a:t>
            </a:r>
          </a:p>
          <a:p>
            <a:pPr marL="171450" indent="-171450">
              <a:spcBef>
                <a:spcPts val="320"/>
              </a:spcBef>
              <a:buClr>
                <a:srgbClr val="B8791A"/>
              </a:buClr>
              <a:buFont typeface="Arial"/>
              <a:buChar char="•"/>
            </a:pPr>
            <a:r>
              <a:rPr lang="en-IN" sz="1100" b="1" dirty="0">
                <a:solidFill>
                  <a:srgbClr val="17365D"/>
                </a:solidFill>
                <a:latin typeface="Calibri"/>
                <a:cs typeface="Calibri"/>
              </a:rPr>
              <a:t>Handwritten prescriptions defeat OCR  →  </a:t>
            </a:r>
            <a:r>
              <a:rPr lang="en-IN" sz="1100" dirty="0">
                <a:solidFill>
                  <a:srgbClr val="1A1A1A"/>
                </a:solidFill>
                <a:latin typeface="Calibri"/>
                <a:cs typeface="Calibri"/>
              </a:rPr>
              <a:t>the original scan always reaches the doctor — an unreadable document is a designed outcome</a:t>
            </a:r>
          </a:p>
          <a:p>
            <a:pPr marL="171450" indent="-171450">
              <a:spcBef>
                <a:spcPts val="320"/>
              </a:spcBef>
              <a:buClr>
                <a:srgbClr val="B8791A"/>
              </a:buClr>
              <a:buFont typeface="Arial"/>
              <a:buChar char="•"/>
            </a:pPr>
            <a:r>
              <a:rPr lang="en-IN" sz="1100" b="1" dirty="0">
                <a:solidFill>
                  <a:srgbClr val="17365D"/>
                </a:solidFill>
                <a:latin typeface="Calibri"/>
                <a:cs typeface="Calibri"/>
              </a:rPr>
              <a:t>ABDM sandbox approval is not instant  →  </a:t>
            </a:r>
            <a:r>
              <a:rPr lang="en-IN" sz="1100" dirty="0">
                <a:solidFill>
                  <a:srgbClr val="1A1A1A"/>
                </a:solidFill>
                <a:latin typeface="Calibri"/>
                <a:cs typeface="Calibri"/>
              </a:rPr>
              <a:t>integration written now; ABHA and FHIR mocked and labelled until credentials arrive</a:t>
            </a:r>
          </a:p>
          <a:p>
            <a:pPr marL="171450" indent="-171450">
              <a:spcBef>
                <a:spcPts val="320"/>
              </a:spcBef>
              <a:buClr>
                <a:srgbClr val="B8791A"/>
              </a:buClr>
              <a:buFont typeface="Arial"/>
              <a:buChar char="•"/>
            </a:pPr>
            <a:r>
              <a:rPr lang="en-IN" sz="1100" b="1" dirty="0">
                <a:solidFill>
                  <a:srgbClr val="17365D"/>
                </a:solidFill>
                <a:latin typeface="Calibri"/>
                <a:cs typeface="Calibri"/>
              </a:rPr>
              <a:t>Regional languages need a Bhashini key  →  </a:t>
            </a:r>
            <a:r>
              <a:rPr lang="en-IN" sz="1100" dirty="0">
                <a:solidFill>
                  <a:srgbClr val="1A1A1A"/>
                </a:solidFill>
                <a:latin typeface="Calibri"/>
                <a:cs typeface="Calibri"/>
              </a:rPr>
              <a:t>Hindi and English fully translated; others shown as pending, never faked</a:t>
            </a:r>
          </a:p>
          <a:p>
            <a:pPr marL="171450" indent="-171450">
              <a:spcBef>
                <a:spcPts val="320"/>
              </a:spcBef>
              <a:buClr>
                <a:srgbClr val="B8791A"/>
              </a:buClr>
              <a:buFont typeface="Arial"/>
              <a:buChar char="•"/>
            </a:pPr>
            <a:r>
              <a:rPr lang="en-IN" sz="1100" b="1" dirty="0">
                <a:solidFill>
                  <a:srgbClr val="17365D"/>
                </a:solidFill>
                <a:latin typeface="Calibri"/>
                <a:cs typeface="Calibri"/>
              </a:rPr>
              <a:t>Clinician distrust of AI-written history  →  </a:t>
            </a:r>
            <a:r>
              <a:rPr lang="en-IN" sz="1100" dirty="0">
                <a:solidFill>
                  <a:srgbClr val="1A1A1A"/>
                </a:solidFill>
                <a:latin typeface="Calibri"/>
                <a:cs typeface="Calibri"/>
              </a:rPr>
              <a:t>provenance per line plus accept / amend; the AI never writes the final record</a:t>
            </a:r>
          </a:p>
          <a:p>
            <a:pPr marL="171450" indent="-171450">
              <a:spcBef>
                <a:spcPts val="320"/>
              </a:spcBef>
              <a:buClr>
                <a:srgbClr val="B8791A"/>
              </a:buClr>
              <a:buFont typeface="Arial"/>
              <a:buChar char="•"/>
            </a:pPr>
            <a:r>
              <a:rPr lang="en-IN" sz="1100" b="1" dirty="0">
                <a:solidFill>
                  <a:srgbClr val="17365D"/>
                </a:solidFill>
                <a:latin typeface="Calibri"/>
                <a:cs typeface="Calibri"/>
              </a:rPr>
              <a:t>Throughput at 5,000+ patients per day  →  </a:t>
            </a:r>
            <a:r>
              <a:rPr lang="en-IN" sz="1100" dirty="0">
                <a:solidFill>
                  <a:srgbClr val="1A1A1A"/>
                </a:solidFill>
                <a:latin typeface="Calibri"/>
                <a:cs typeface="Calibri"/>
              </a:rPr>
              <a:t>[ADD METRIC: measured average interview time]</a:t>
            </a:r>
          </a:p>
        </p:txBody>
      </p:sp>
      <p:sp>
        <p:nvSpPr>
          <p:cNvPr id="2079" name="RN card"/>
          <p:cNvSpPr/>
          <p:nvPr/>
        </p:nvSpPr>
        <p:spPr>
          <a:xfrm>
            <a:off x="502920" y="3986784"/>
            <a:ext cx="5468112" cy="13350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1F7A5A"/>
            </a:solidFill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2080" name="RN head"/>
          <p:cNvSpPr/>
          <p:nvPr/>
        </p:nvSpPr>
        <p:spPr>
          <a:xfrm>
            <a:off x="502920" y="3986784"/>
            <a:ext cx="5468112" cy="274320"/>
          </a:xfrm>
          <a:prstGeom prst="roundRect">
            <a:avLst>
              <a:gd name="adj" fmla="val 26000"/>
            </a:avLst>
          </a:prstGeom>
          <a:solidFill>
            <a:srgbClr val="1F7A5A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buNone/>
            </a:pPr>
            <a:r>
              <a:rPr lang="en-IN" sz="1400" b="1" dirty="0">
                <a:solidFill>
                  <a:srgbClr val="FFFFFF"/>
                </a:solidFill>
                <a:latin typeface="Calibri"/>
                <a:cs typeface="Calibri"/>
              </a:rPr>
              <a:t>LIVE IN THE PROTOTYPE TODAY</a:t>
            </a:r>
          </a:p>
        </p:txBody>
      </p:sp>
      <p:sp>
        <p:nvSpPr>
          <p:cNvPr id="2081" name="RN items"/>
          <p:cNvSpPr txBox="1"/>
          <p:nvPr/>
        </p:nvSpPr>
        <p:spPr>
          <a:xfrm>
            <a:off x="685800" y="4352544"/>
            <a:ext cx="5102352" cy="8961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>
              <a:spcBef>
                <a:spcPts val="0"/>
              </a:spcBef>
              <a:buNone/>
            </a:pPr>
            <a:r>
              <a:rPr lang="en-IN" sz="1200" b="1" dirty="0">
                <a:solidFill>
                  <a:srgbClr val="1F7A5A"/>
                </a:solidFill>
                <a:latin typeface="Calibri"/>
                <a:cs typeface="Calibri"/>
              </a:rPr>
              <a:t>✓   </a:t>
            </a:r>
            <a:r>
              <a:rPr lang="en-IN" sz="1200" dirty="0">
                <a:solidFill>
                  <a:srgbClr val="1A1A1A"/>
                </a:solidFill>
                <a:latin typeface="Calibri"/>
                <a:cs typeface="Calibri"/>
              </a:rPr>
              <a:t>Kiosk interview — voice and touch</a:t>
            </a:r>
          </a:p>
          <a:p>
            <a:pPr marL="0" indent="0">
              <a:spcBef>
                <a:spcPts val="95"/>
              </a:spcBef>
              <a:buNone/>
            </a:pPr>
            <a:r>
              <a:rPr lang="en-IN" sz="1200" b="1" dirty="0">
                <a:solidFill>
                  <a:srgbClr val="1F7A5A"/>
                </a:solidFill>
                <a:latin typeface="Calibri"/>
                <a:cs typeface="Calibri"/>
              </a:rPr>
              <a:t>✓   </a:t>
            </a:r>
            <a:r>
              <a:rPr lang="en-IN" sz="1200" dirty="0">
                <a:solidFill>
                  <a:srgbClr val="1A1A1A"/>
                </a:solidFill>
                <a:latin typeface="Calibri"/>
                <a:cs typeface="Calibri"/>
              </a:rPr>
              <a:t>Document capture and AI extraction</a:t>
            </a:r>
          </a:p>
          <a:p>
            <a:pPr marL="0" indent="0">
              <a:spcBef>
                <a:spcPts val="95"/>
              </a:spcBef>
              <a:buNone/>
            </a:pPr>
            <a:r>
              <a:rPr lang="en-IN" sz="1200" b="1" dirty="0">
                <a:solidFill>
                  <a:srgbClr val="1F7A5A"/>
                </a:solidFill>
                <a:latin typeface="Calibri"/>
                <a:cs typeface="Calibri"/>
              </a:rPr>
              <a:t>✓   </a:t>
            </a:r>
            <a:r>
              <a:rPr lang="en-IN" sz="1200" dirty="0">
                <a:solidFill>
                  <a:srgbClr val="1A1A1A"/>
                </a:solidFill>
                <a:latin typeface="Calibri"/>
                <a:cs typeface="Calibri"/>
              </a:rPr>
              <a:t>Doctor queue, verification, prescribing</a:t>
            </a:r>
          </a:p>
          <a:p>
            <a:pPr marL="0" indent="0">
              <a:spcBef>
                <a:spcPts val="95"/>
              </a:spcBef>
              <a:buNone/>
            </a:pPr>
            <a:r>
              <a:rPr lang="en-IN" sz="1200" b="1" dirty="0">
                <a:solidFill>
                  <a:srgbClr val="1F7A5A"/>
                </a:solidFill>
                <a:latin typeface="Calibri"/>
                <a:cs typeface="Calibri"/>
              </a:rPr>
              <a:t>✓   </a:t>
            </a:r>
            <a:r>
              <a:rPr lang="en-IN" sz="1200" dirty="0">
                <a:solidFill>
                  <a:srgbClr val="1A1A1A"/>
                </a:solidFill>
                <a:latin typeface="Calibri"/>
                <a:cs typeface="Calibri"/>
              </a:rPr>
              <a:t>DPDP consent and audit trail</a:t>
            </a:r>
          </a:p>
        </p:txBody>
      </p:sp>
      <p:sp>
        <p:nvSpPr>
          <p:cNvPr id="2082" name="RN card"/>
          <p:cNvSpPr/>
          <p:nvPr/>
        </p:nvSpPr>
        <p:spPr>
          <a:xfrm>
            <a:off x="6217920" y="3986784"/>
            <a:ext cx="5468112" cy="13350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8791A"/>
            </a:solidFill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2083" name="RN head"/>
          <p:cNvSpPr/>
          <p:nvPr/>
        </p:nvSpPr>
        <p:spPr>
          <a:xfrm>
            <a:off x="6217920" y="3983651"/>
            <a:ext cx="5468112" cy="274320"/>
          </a:xfrm>
          <a:prstGeom prst="roundRect">
            <a:avLst>
              <a:gd name="adj" fmla="val 26000"/>
            </a:avLst>
          </a:prstGeom>
          <a:solidFill>
            <a:srgbClr val="B8791A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buNone/>
            </a:pPr>
            <a:r>
              <a:rPr lang="en-IN" sz="1400" b="1" dirty="0">
                <a:solidFill>
                  <a:srgbClr val="FFFFFF"/>
                </a:solidFill>
                <a:latin typeface="Calibri"/>
                <a:cs typeface="Calibri"/>
              </a:rPr>
              <a:t>BUILT, AWAITING CREDENTIALS</a:t>
            </a:r>
          </a:p>
        </p:txBody>
      </p:sp>
      <p:sp>
        <p:nvSpPr>
          <p:cNvPr id="2084" name="RN items"/>
          <p:cNvSpPr txBox="1"/>
          <p:nvPr/>
        </p:nvSpPr>
        <p:spPr>
          <a:xfrm>
            <a:off x="6400800" y="4352544"/>
            <a:ext cx="5102352" cy="8961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>
              <a:spcBef>
                <a:spcPts val="0"/>
              </a:spcBef>
              <a:buNone/>
            </a:pPr>
            <a:r>
              <a:rPr lang="en-IN" sz="1200" b="1" dirty="0">
                <a:solidFill>
                  <a:srgbClr val="B8791A"/>
                </a:solidFill>
                <a:latin typeface="Calibri"/>
                <a:cs typeface="Calibri"/>
              </a:rPr>
              <a:t>○   </a:t>
            </a:r>
            <a:r>
              <a:rPr lang="en-IN" sz="1200" dirty="0">
                <a:solidFill>
                  <a:srgbClr val="1A1A1A"/>
                </a:solidFill>
                <a:latin typeface="Calibri"/>
                <a:cs typeface="Calibri"/>
              </a:rPr>
              <a:t>ABHA enrolment — ABDM sandbox</a:t>
            </a:r>
          </a:p>
          <a:p>
            <a:pPr marL="0" indent="0">
              <a:spcBef>
                <a:spcPts val="95"/>
              </a:spcBef>
              <a:buNone/>
            </a:pPr>
            <a:r>
              <a:rPr lang="en-IN" sz="1200" b="1" dirty="0">
                <a:solidFill>
                  <a:srgbClr val="B8791A"/>
                </a:solidFill>
                <a:latin typeface="Calibri"/>
                <a:cs typeface="Calibri"/>
              </a:rPr>
              <a:t>○   </a:t>
            </a:r>
            <a:r>
              <a:rPr lang="en-IN" sz="1200" dirty="0">
                <a:solidFill>
                  <a:srgbClr val="1A1A1A"/>
                </a:solidFill>
                <a:latin typeface="Calibri"/>
                <a:cs typeface="Calibri"/>
              </a:rPr>
              <a:t>FHIR push to the hospital HIS</a:t>
            </a:r>
          </a:p>
          <a:p>
            <a:pPr marL="0" indent="0">
              <a:spcBef>
                <a:spcPts val="95"/>
              </a:spcBef>
              <a:buNone/>
            </a:pPr>
            <a:r>
              <a:rPr lang="en-IN" sz="1200" b="1" dirty="0">
                <a:solidFill>
                  <a:srgbClr val="B8791A"/>
                </a:solidFill>
                <a:latin typeface="Calibri"/>
                <a:cs typeface="Calibri"/>
              </a:rPr>
              <a:t>○   </a:t>
            </a:r>
            <a:r>
              <a:rPr lang="en-IN" sz="1200" dirty="0">
                <a:solidFill>
                  <a:srgbClr val="1A1A1A"/>
                </a:solidFill>
                <a:latin typeface="Calibri"/>
                <a:cs typeface="Calibri"/>
              </a:rPr>
              <a:t>Regional languages — Bhashini key</a:t>
            </a:r>
          </a:p>
          <a:p>
            <a:pPr marL="0" indent="0">
              <a:spcBef>
                <a:spcPts val="95"/>
              </a:spcBef>
              <a:buNone/>
            </a:pPr>
            <a:r>
              <a:rPr lang="en-IN" sz="1200" b="1" dirty="0">
                <a:solidFill>
                  <a:srgbClr val="B8791A"/>
                </a:solidFill>
                <a:latin typeface="Calibri"/>
                <a:cs typeface="Calibri"/>
              </a:rPr>
              <a:t>○   </a:t>
            </a:r>
            <a:r>
              <a:rPr lang="en-IN" sz="1200" dirty="0">
                <a:solidFill>
                  <a:srgbClr val="1A1A1A"/>
                </a:solidFill>
                <a:latin typeface="Calibri"/>
                <a:cs typeface="Calibri"/>
              </a:rPr>
              <a:t>SMS delivery — DLT registration</a:t>
            </a:r>
          </a:p>
        </p:txBody>
      </p:sp>
      <p:sp>
        <p:nvSpPr>
          <p:cNvPr id="2085" name="Principle"/>
          <p:cNvSpPr/>
          <p:nvPr/>
        </p:nvSpPr>
        <p:spPr>
          <a:xfrm>
            <a:off x="502920" y="5486400"/>
            <a:ext cx="11183112" cy="621792"/>
          </a:xfrm>
          <a:prstGeom prst="roundRect">
            <a:avLst>
              <a:gd name="adj" fmla="val 22000"/>
            </a:avLst>
          </a:prstGeom>
          <a:solidFill>
            <a:srgbClr val="EEF5FB"/>
          </a:solidFill>
          <a:ln w="9525">
            <a:solidFill>
              <a:srgbClr val="C7D8E6"/>
            </a:solidFill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buNone/>
            </a:pPr>
            <a:r>
              <a:rPr lang="en-IN" sz="1400" b="1" dirty="0">
                <a:solidFill>
                  <a:srgbClr val="0070C0"/>
                </a:solidFill>
                <a:latin typeface="Times New Roman"/>
                <a:cs typeface="Times New Roman"/>
              </a:rPr>
              <a:t>DESIGN PRINCIPLE:  </a:t>
            </a:r>
            <a:r>
              <a:rPr lang="en-IN" sz="1400" dirty="0">
                <a:solidFill>
                  <a:srgbClr val="17365D"/>
                </a:solidFill>
                <a:latin typeface="Calibri"/>
                <a:cs typeface="Calibri"/>
              </a:rPr>
              <a:t>every fallback works without AI, without the network, and without the patient being able to read.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 TEAM ORIANS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086" name="H1"/>
          <p:cNvSpPr txBox="1"/>
          <p:nvPr/>
        </p:nvSpPr>
        <p:spPr>
          <a:xfrm>
            <a:off x="502920" y="1152144"/>
            <a:ext cx="11183112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>
              <a:spcBef>
                <a:spcPts val="0"/>
              </a:spcBef>
              <a:buNone/>
            </a:pPr>
            <a:r>
              <a:rPr lang="en-IN" sz="1600" b="1" dirty="0">
                <a:solidFill>
                  <a:srgbClr val="17365D"/>
                </a:solidFill>
                <a:latin typeface="Times New Roman"/>
                <a:cs typeface="Times New Roman"/>
              </a:rPr>
              <a:t>POTENTIAL IMPACT ON THE TARGET AUDIENCE</a:t>
            </a:r>
          </a:p>
        </p:txBody>
      </p:sp>
      <p:sp>
        <p:nvSpPr>
          <p:cNvPr id="2087" name="Aud card"/>
          <p:cNvSpPr/>
          <p:nvPr/>
        </p:nvSpPr>
        <p:spPr>
          <a:xfrm>
            <a:off x="502920" y="1426464"/>
            <a:ext cx="2658618" cy="11155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7D8E6"/>
            </a:solidFill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2088" name="Aud head"/>
          <p:cNvSpPr/>
          <p:nvPr/>
        </p:nvSpPr>
        <p:spPr>
          <a:xfrm>
            <a:off x="502920" y="1426464"/>
            <a:ext cx="2658618" cy="274320"/>
          </a:xfrm>
          <a:prstGeom prst="roundRect">
            <a:avLst>
              <a:gd name="adj" fmla="val 26000"/>
            </a:avLst>
          </a:prstGeom>
          <a:solidFill>
            <a:srgbClr val="0070C0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buNone/>
            </a:pPr>
            <a:r>
              <a:rPr lang="en-IN" sz="1400" b="1" dirty="0">
                <a:solidFill>
                  <a:srgbClr val="FFFFFF"/>
                </a:solidFill>
                <a:latin typeface="Calibri"/>
                <a:cs typeface="Calibri"/>
              </a:rPr>
              <a:t>PATIENTS</a:t>
            </a:r>
          </a:p>
        </p:txBody>
      </p:sp>
      <p:sp>
        <p:nvSpPr>
          <p:cNvPr id="2089" name="Aud txt"/>
          <p:cNvSpPr txBox="1"/>
          <p:nvPr/>
        </p:nvSpPr>
        <p:spPr>
          <a:xfrm>
            <a:off x="630936" y="1792224"/>
            <a:ext cx="2402586" cy="8595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>
              <a:spcBef>
                <a:spcPts val="0"/>
              </a:spcBef>
              <a:buNone/>
            </a:pPr>
            <a:r>
              <a:rPr lang="en-IN" sz="1200" dirty="0">
                <a:solidFill>
                  <a:srgbClr val="1A1A1A"/>
                </a:solidFill>
                <a:latin typeface="Calibri"/>
                <a:cs typeface="Calibri"/>
              </a:rPr>
              <a:t>The elderly, low-literacy and first-visit majority get a full hearing without a smartphone or the ability to read</a:t>
            </a:r>
          </a:p>
        </p:txBody>
      </p:sp>
      <p:sp>
        <p:nvSpPr>
          <p:cNvPr id="2090" name="Aud card"/>
          <p:cNvSpPr/>
          <p:nvPr/>
        </p:nvSpPr>
        <p:spPr>
          <a:xfrm>
            <a:off x="3344418" y="1426464"/>
            <a:ext cx="2658618" cy="11155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7D8E6"/>
            </a:solidFill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2091" name="Aud head"/>
          <p:cNvSpPr/>
          <p:nvPr/>
        </p:nvSpPr>
        <p:spPr>
          <a:xfrm>
            <a:off x="3344418" y="1417320"/>
            <a:ext cx="2658618" cy="274320"/>
          </a:xfrm>
          <a:prstGeom prst="roundRect">
            <a:avLst>
              <a:gd name="adj" fmla="val 26000"/>
            </a:avLst>
          </a:prstGeom>
          <a:solidFill>
            <a:srgbClr val="17365D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buNone/>
            </a:pPr>
            <a:r>
              <a:rPr lang="en-IN" sz="1400" b="1" dirty="0">
                <a:solidFill>
                  <a:srgbClr val="FFFFFF"/>
                </a:solidFill>
                <a:latin typeface="Calibri"/>
                <a:cs typeface="Calibri"/>
              </a:rPr>
              <a:t>DOCTORS</a:t>
            </a:r>
          </a:p>
        </p:txBody>
      </p:sp>
      <p:sp>
        <p:nvSpPr>
          <p:cNvPr id="2092" name="Aud txt"/>
          <p:cNvSpPr txBox="1"/>
          <p:nvPr/>
        </p:nvSpPr>
        <p:spPr>
          <a:xfrm>
            <a:off x="3472434" y="1792224"/>
            <a:ext cx="2402586" cy="8595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>
              <a:spcBef>
                <a:spcPts val="0"/>
              </a:spcBef>
              <a:buNone/>
            </a:pPr>
            <a:r>
              <a:rPr lang="en-IN" sz="1200" dirty="0">
                <a:solidFill>
                  <a:srgbClr val="1A1A1A"/>
                </a:solidFill>
                <a:latin typeface="Calibri"/>
                <a:cs typeface="Calibri"/>
              </a:rPr>
              <a:t>Read a complete structured history in seconds instead of eliciting it in minutes</a:t>
            </a:r>
          </a:p>
        </p:txBody>
      </p:sp>
      <p:sp>
        <p:nvSpPr>
          <p:cNvPr id="2093" name="Aud card"/>
          <p:cNvSpPr/>
          <p:nvPr/>
        </p:nvSpPr>
        <p:spPr>
          <a:xfrm>
            <a:off x="6185916" y="1426464"/>
            <a:ext cx="2658618" cy="11155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7D8E6"/>
            </a:solidFill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2094" name="Aud head"/>
          <p:cNvSpPr/>
          <p:nvPr/>
        </p:nvSpPr>
        <p:spPr>
          <a:xfrm>
            <a:off x="6185916" y="1426464"/>
            <a:ext cx="2658618" cy="274320"/>
          </a:xfrm>
          <a:prstGeom prst="roundRect">
            <a:avLst>
              <a:gd name="adj" fmla="val 26000"/>
            </a:avLst>
          </a:prstGeom>
          <a:solidFill>
            <a:srgbClr val="1F7A5A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buNone/>
            </a:pPr>
            <a:r>
              <a:rPr lang="en-IN" sz="1400" b="1" dirty="0">
                <a:solidFill>
                  <a:srgbClr val="FFFFFF"/>
                </a:solidFill>
                <a:latin typeface="Calibri"/>
                <a:cs typeface="Calibri"/>
              </a:rPr>
              <a:t>AYUSH PRACTITIONERS</a:t>
            </a:r>
          </a:p>
        </p:txBody>
      </p:sp>
      <p:sp>
        <p:nvSpPr>
          <p:cNvPr id="2095" name="Aud txt"/>
          <p:cNvSpPr txBox="1"/>
          <p:nvPr/>
        </p:nvSpPr>
        <p:spPr>
          <a:xfrm>
            <a:off x="6313932" y="1792224"/>
            <a:ext cx="2402586" cy="8595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>
              <a:spcBef>
                <a:spcPts val="0"/>
              </a:spcBef>
              <a:buNone/>
            </a:pPr>
            <a:r>
              <a:rPr lang="en-IN" sz="1200" dirty="0">
                <a:solidFill>
                  <a:srgbClr val="1A1A1A"/>
                </a:solidFill>
                <a:latin typeface="Calibri"/>
                <a:cs typeface="Calibri"/>
              </a:rPr>
              <a:t>The full Dashavidha assessment becomes possible inside OPD time — the assessment that defines personalised Ayurvedic care</a:t>
            </a:r>
          </a:p>
        </p:txBody>
      </p:sp>
      <p:sp>
        <p:nvSpPr>
          <p:cNvPr id="2096" name="Aud card"/>
          <p:cNvSpPr/>
          <p:nvPr/>
        </p:nvSpPr>
        <p:spPr>
          <a:xfrm>
            <a:off x="9027414" y="1426464"/>
            <a:ext cx="2658618" cy="11155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7D8E6"/>
            </a:solidFill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2097" name="Aud head"/>
          <p:cNvSpPr/>
          <p:nvPr/>
        </p:nvSpPr>
        <p:spPr>
          <a:xfrm>
            <a:off x="9027414" y="1426464"/>
            <a:ext cx="2658618" cy="274320"/>
          </a:xfrm>
          <a:prstGeom prst="roundRect">
            <a:avLst>
              <a:gd name="adj" fmla="val 26000"/>
            </a:avLst>
          </a:prstGeom>
          <a:solidFill>
            <a:srgbClr val="2E9BD6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buNone/>
            </a:pPr>
            <a:r>
              <a:rPr lang="en-IN" sz="1400" b="1" dirty="0">
                <a:solidFill>
                  <a:srgbClr val="FFFFFF"/>
                </a:solidFill>
                <a:latin typeface="Calibri"/>
                <a:cs typeface="Calibri"/>
              </a:rPr>
              <a:t>INSTITUTIONS</a:t>
            </a:r>
          </a:p>
        </p:txBody>
      </p:sp>
      <p:sp>
        <p:nvSpPr>
          <p:cNvPr id="2098" name="Aud txt"/>
          <p:cNvSpPr txBox="1"/>
          <p:nvPr/>
        </p:nvSpPr>
        <p:spPr>
          <a:xfrm>
            <a:off x="9155430" y="1792224"/>
            <a:ext cx="2402586" cy="8595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>
              <a:spcBef>
                <a:spcPts val="0"/>
              </a:spcBef>
              <a:buNone/>
            </a:pPr>
            <a:r>
              <a:rPr lang="en-IN" sz="1200" dirty="0">
                <a:solidFill>
                  <a:srgbClr val="1A1A1A"/>
                </a:solidFill>
                <a:latin typeface="Calibri"/>
                <a:cs typeface="Calibri"/>
              </a:rPr>
              <a:t>Structured, ABDM-linked records with a complete audit trail, replacing fragmented paper</a:t>
            </a:r>
          </a:p>
        </p:txBody>
      </p:sp>
      <p:sp>
        <p:nvSpPr>
          <p:cNvPr id="2099" name="H2"/>
          <p:cNvSpPr txBox="1"/>
          <p:nvPr/>
        </p:nvSpPr>
        <p:spPr>
          <a:xfrm>
            <a:off x="502920" y="2889504"/>
            <a:ext cx="11183112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>
              <a:spcBef>
                <a:spcPts val="0"/>
              </a:spcBef>
              <a:buNone/>
            </a:pPr>
            <a:r>
              <a:rPr lang="en-IN" sz="1600" b="1" dirty="0">
                <a:solidFill>
                  <a:srgbClr val="17365D"/>
                </a:solidFill>
                <a:latin typeface="Times New Roman"/>
                <a:cs typeface="Times New Roman"/>
              </a:rPr>
              <a:t>BENEFITS OF THE SOLUTION</a:t>
            </a:r>
          </a:p>
        </p:txBody>
      </p:sp>
      <p:sp>
        <p:nvSpPr>
          <p:cNvPr id="2100" name="Card body"/>
          <p:cNvSpPr/>
          <p:nvPr/>
        </p:nvSpPr>
        <p:spPr>
          <a:xfrm>
            <a:off x="502920" y="3163824"/>
            <a:ext cx="3581400" cy="14630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C7D8E6"/>
            </a:solidFill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2101" name="Card head"/>
          <p:cNvSpPr/>
          <p:nvPr/>
        </p:nvSpPr>
        <p:spPr>
          <a:xfrm>
            <a:off x="502920" y="3163824"/>
            <a:ext cx="3581400" cy="292608"/>
          </a:xfrm>
          <a:prstGeom prst="roundRect">
            <a:avLst>
              <a:gd name="adj" fmla="val 26000"/>
            </a:avLst>
          </a:prstGeom>
          <a:solidFill>
            <a:srgbClr val="1F7A5A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buNone/>
            </a:pPr>
            <a:r>
              <a:rPr lang="en-IN" sz="1400" b="1" dirty="0">
                <a:solidFill>
                  <a:srgbClr val="FFFFFF"/>
                </a:solidFill>
                <a:latin typeface="Times New Roman"/>
                <a:cs typeface="Times New Roman"/>
              </a:rPr>
              <a:t>SOCIAL</a:t>
            </a:r>
          </a:p>
        </p:txBody>
      </p:sp>
      <p:sp>
        <p:nvSpPr>
          <p:cNvPr id="2102" name="Card text"/>
          <p:cNvSpPr txBox="1"/>
          <p:nvPr/>
        </p:nvSpPr>
        <p:spPr>
          <a:xfrm>
            <a:off x="649224" y="3538728"/>
            <a:ext cx="3288792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171450" indent="-171450">
              <a:spcBef>
                <a:spcPts val="230"/>
              </a:spcBef>
              <a:buClr>
                <a:srgbClr val="1F7A5A"/>
              </a:buClr>
              <a:buFont typeface="Arial"/>
              <a:buChar char="•"/>
            </a:pPr>
            <a:r>
              <a:rPr lang="en-IN" sz="1100" dirty="0">
                <a:solidFill>
                  <a:srgbClr val="1A1A1A"/>
                </a:solidFill>
                <a:latin typeface="Calibri"/>
                <a:cs typeface="Calibri"/>
              </a:rPr>
              <a:t>Works for the patients every smartphone-first health product excludes</a:t>
            </a:r>
          </a:p>
          <a:p>
            <a:pPr marL="171450" indent="-171450">
              <a:spcBef>
                <a:spcPts val="230"/>
              </a:spcBef>
              <a:buClr>
                <a:srgbClr val="1F7A5A"/>
              </a:buClr>
              <a:buFont typeface="Arial"/>
              <a:buChar char="•"/>
            </a:pPr>
            <a:r>
              <a:rPr lang="en-IN" sz="1100" dirty="0">
                <a:solidFill>
                  <a:srgbClr val="1A1A1A"/>
                </a:solidFill>
                <a:latin typeface="Calibri"/>
                <a:cs typeface="Calibri"/>
              </a:rPr>
              <a:t>A full hearing regardless of literacy, age or digital comfort</a:t>
            </a:r>
          </a:p>
          <a:p>
            <a:pPr marL="171450" indent="-171450">
              <a:spcBef>
                <a:spcPts val="230"/>
              </a:spcBef>
              <a:buClr>
                <a:srgbClr val="1F7A5A"/>
              </a:buClr>
              <a:buFont typeface="Arial"/>
              <a:buChar char="•"/>
            </a:pPr>
            <a:r>
              <a:rPr lang="en-IN" sz="1100" dirty="0">
                <a:solidFill>
                  <a:srgbClr val="1A1A1A"/>
                </a:solidFill>
                <a:latin typeface="Calibri"/>
                <a:cs typeface="Calibri"/>
              </a:rPr>
              <a:t>The patient's own words, in the patient's own language</a:t>
            </a:r>
          </a:p>
        </p:txBody>
      </p:sp>
      <p:sp>
        <p:nvSpPr>
          <p:cNvPr id="2103" name="Card body"/>
          <p:cNvSpPr/>
          <p:nvPr/>
        </p:nvSpPr>
        <p:spPr>
          <a:xfrm>
            <a:off x="4303776" y="3163824"/>
            <a:ext cx="3581400" cy="14630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C7D8E6"/>
            </a:solidFill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2104" name="Card head"/>
          <p:cNvSpPr/>
          <p:nvPr/>
        </p:nvSpPr>
        <p:spPr>
          <a:xfrm>
            <a:off x="4303776" y="3163824"/>
            <a:ext cx="3581400" cy="292608"/>
          </a:xfrm>
          <a:prstGeom prst="roundRect">
            <a:avLst>
              <a:gd name="adj" fmla="val 26000"/>
            </a:avLst>
          </a:prstGeom>
          <a:solidFill>
            <a:srgbClr val="0070C0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buNone/>
            </a:pPr>
            <a:r>
              <a:rPr lang="en-IN" sz="1400" b="1" dirty="0">
                <a:solidFill>
                  <a:srgbClr val="FFFFFF"/>
                </a:solidFill>
                <a:latin typeface="Times New Roman"/>
                <a:cs typeface="Times New Roman"/>
              </a:rPr>
              <a:t>CLINICAL &amp; SAFETY</a:t>
            </a:r>
          </a:p>
        </p:txBody>
      </p:sp>
      <p:sp>
        <p:nvSpPr>
          <p:cNvPr id="2105" name="Card text"/>
          <p:cNvSpPr txBox="1"/>
          <p:nvPr/>
        </p:nvSpPr>
        <p:spPr>
          <a:xfrm>
            <a:off x="4450080" y="3538728"/>
            <a:ext cx="3288792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171450" indent="-171450">
              <a:spcBef>
                <a:spcPts val="230"/>
              </a:spcBef>
              <a:buClr>
                <a:srgbClr val="0070C0"/>
              </a:buClr>
              <a:buFont typeface="Arial"/>
              <a:buChar char="•"/>
            </a:pPr>
            <a:r>
              <a:rPr lang="en-IN" sz="1100" dirty="0">
                <a:solidFill>
                  <a:srgbClr val="1A1A1A"/>
                </a:solidFill>
                <a:latin typeface="Calibri"/>
                <a:cs typeface="Calibri"/>
              </a:rPr>
              <a:t>Addresses under-elicitation, missed comorbidities and diagnostic error</a:t>
            </a:r>
          </a:p>
          <a:p>
            <a:pPr marL="171450" indent="-171450">
              <a:spcBef>
                <a:spcPts val="230"/>
              </a:spcBef>
              <a:buClr>
                <a:srgbClr val="0070C0"/>
              </a:buClr>
              <a:buFont typeface="Arial"/>
              <a:buChar char="•"/>
            </a:pPr>
            <a:r>
              <a:rPr lang="en-IN" sz="1100" dirty="0">
                <a:solidFill>
                  <a:srgbClr val="1A1A1A"/>
                </a:solidFill>
                <a:latin typeface="Calibri"/>
                <a:cs typeface="Calibri"/>
              </a:rPr>
              <a:t>Red-flag triage escalates emergencies instead of queueing them</a:t>
            </a:r>
          </a:p>
          <a:p>
            <a:pPr marL="171450" indent="-171450">
              <a:spcBef>
                <a:spcPts val="230"/>
              </a:spcBef>
              <a:buClr>
                <a:srgbClr val="0070C0"/>
              </a:buClr>
              <a:buFont typeface="Arial"/>
              <a:buChar char="•"/>
            </a:pPr>
            <a:r>
              <a:rPr lang="en-IN" sz="1100" dirty="0">
                <a:solidFill>
                  <a:srgbClr val="1A1A1A"/>
                </a:solidFill>
                <a:latin typeface="Calibri"/>
                <a:cs typeface="Calibri"/>
              </a:rPr>
              <a:t>Follow-ups build on a verified baseline, ending repeated questioning</a:t>
            </a:r>
          </a:p>
        </p:txBody>
      </p:sp>
      <p:sp>
        <p:nvSpPr>
          <p:cNvPr id="2106" name="Card body"/>
          <p:cNvSpPr/>
          <p:nvPr/>
        </p:nvSpPr>
        <p:spPr>
          <a:xfrm>
            <a:off x="8104632" y="3163824"/>
            <a:ext cx="3581400" cy="145357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C7D8E6"/>
            </a:solidFill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2107" name="Card head"/>
          <p:cNvSpPr/>
          <p:nvPr/>
        </p:nvSpPr>
        <p:spPr>
          <a:xfrm>
            <a:off x="8104632" y="3163824"/>
            <a:ext cx="3581400" cy="292608"/>
          </a:xfrm>
          <a:prstGeom prst="roundRect">
            <a:avLst>
              <a:gd name="adj" fmla="val 26000"/>
            </a:avLst>
          </a:prstGeom>
          <a:solidFill>
            <a:srgbClr val="B8791A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buNone/>
            </a:pPr>
            <a:r>
              <a:rPr lang="en-IN" sz="1400" b="1" dirty="0">
                <a:solidFill>
                  <a:srgbClr val="FFFFFF"/>
                </a:solidFill>
                <a:latin typeface="Times New Roman"/>
                <a:cs typeface="Times New Roman"/>
              </a:rPr>
              <a:t>ECONOMIC &amp; SYSTEMIC</a:t>
            </a:r>
          </a:p>
        </p:txBody>
      </p:sp>
      <p:sp>
        <p:nvSpPr>
          <p:cNvPr id="2108" name="Card text"/>
          <p:cNvSpPr txBox="1"/>
          <p:nvPr/>
        </p:nvSpPr>
        <p:spPr>
          <a:xfrm>
            <a:off x="8250936" y="3538728"/>
            <a:ext cx="3288792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171450" indent="-171450">
              <a:spcBef>
                <a:spcPts val="230"/>
              </a:spcBef>
              <a:buClr>
                <a:srgbClr val="B8791A"/>
              </a:buClr>
              <a:buFont typeface="Arial"/>
              <a:buChar char="•"/>
            </a:pPr>
            <a:r>
              <a:rPr lang="en-IN" sz="1100" dirty="0">
                <a:solidFill>
                  <a:srgbClr val="1A1A1A"/>
                </a:solidFill>
                <a:latin typeface="Calibri"/>
                <a:cs typeface="Calibri"/>
              </a:rPr>
              <a:t>Consultation minutes shift from transcription to examination and counselling</a:t>
            </a:r>
          </a:p>
          <a:p>
            <a:pPr marL="171450" indent="-171450">
              <a:spcBef>
                <a:spcPts val="230"/>
              </a:spcBef>
              <a:buClr>
                <a:srgbClr val="B8791A"/>
              </a:buClr>
              <a:buFont typeface="Arial"/>
              <a:buChar char="•"/>
            </a:pPr>
            <a:r>
              <a:rPr lang="en-IN" sz="1100" dirty="0">
                <a:solidFill>
                  <a:srgbClr val="1A1A1A"/>
                </a:solidFill>
                <a:latin typeface="Calibri"/>
                <a:cs typeface="Calibri"/>
              </a:rPr>
              <a:t>Commodity hardware, no per-seat licence, no cloud dependency</a:t>
            </a:r>
          </a:p>
          <a:p>
            <a:pPr marL="171450" indent="-171450">
              <a:spcBef>
                <a:spcPts val="230"/>
              </a:spcBef>
              <a:buClr>
                <a:srgbClr val="B8791A"/>
              </a:buClr>
              <a:buFont typeface="Arial"/>
              <a:buChar char="•"/>
            </a:pPr>
            <a:r>
              <a:rPr lang="en-IN" sz="1100" dirty="0">
                <a:solidFill>
                  <a:srgbClr val="1A1A1A"/>
                </a:solidFill>
                <a:latin typeface="Calibri"/>
                <a:cs typeface="Calibri"/>
              </a:rPr>
              <a:t>[ADD METRIC — cite your own timed trial]</a:t>
            </a:r>
          </a:p>
        </p:txBody>
      </p:sp>
      <p:sp>
        <p:nvSpPr>
          <p:cNvPr id="2109" name="Stat"/>
          <p:cNvSpPr/>
          <p:nvPr/>
        </p:nvSpPr>
        <p:spPr>
          <a:xfrm>
            <a:off x="502920" y="4700016"/>
            <a:ext cx="3581400" cy="987552"/>
          </a:xfrm>
          <a:prstGeom prst="roundRect">
            <a:avLst>
              <a:gd name="adj" fmla="val 9000"/>
            </a:avLst>
          </a:prstGeom>
          <a:solidFill>
            <a:srgbClr val="EEF5FB"/>
          </a:solidFill>
          <a:ln w="9525">
            <a:solidFill>
              <a:srgbClr val="C7D8E6"/>
            </a:solidFill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buNone/>
            </a:pPr>
            <a:r>
              <a:rPr lang="en-IN" sz="2400" b="1" dirty="0">
                <a:solidFill>
                  <a:srgbClr val="0070C0"/>
                </a:solidFill>
                <a:latin typeface="Times New Roman"/>
                <a:cs typeface="Times New Roman"/>
              </a:rPr>
              <a:t>4,000–10,000</a:t>
            </a:r>
          </a:p>
          <a:p>
            <a:pPr algn="ctr">
              <a:spcBef>
                <a:spcPts val="90"/>
              </a:spcBef>
              <a:buNone/>
            </a:pPr>
            <a:r>
              <a:rPr lang="en-IN" sz="1100" dirty="0">
                <a:solidFill>
                  <a:srgbClr val="5F6B72"/>
                </a:solidFill>
                <a:latin typeface="Calibri"/>
                <a:cs typeface="Calibri"/>
              </a:rPr>
              <a:t>OPD patients per day at a tertiary government hospital</a:t>
            </a:r>
          </a:p>
        </p:txBody>
      </p:sp>
      <p:sp>
        <p:nvSpPr>
          <p:cNvPr id="2110" name="Stat"/>
          <p:cNvSpPr/>
          <p:nvPr/>
        </p:nvSpPr>
        <p:spPr>
          <a:xfrm>
            <a:off x="4303776" y="4700016"/>
            <a:ext cx="3581400" cy="987552"/>
          </a:xfrm>
          <a:prstGeom prst="roundRect">
            <a:avLst>
              <a:gd name="adj" fmla="val 9000"/>
            </a:avLst>
          </a:prstGeom>
          <a:solidFill>
            <a:srgbClr val="EEF5FB"/>
          </a:solidFill>
          <a:ln w="9525">
            <a:solidFill>
              <a:srgbClr val="C7D8E6"/>
            </a:solidFill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buNone/>
            </a:pPr>
            <a:r>
              <a:rPr lang="en-IN" sz="2400" b="1" dirty="0">
                <a:solidFill>
                  <a:srgbClr val="0070C0"/>
                </a:solidFill>
                <a:latin typeface="Times New Roman"/>
                <a:cs typeface="Times New Roman"/>
              </a:rPr>
              <a:t>2-5 min</a:t>
            </a:r>
          </a:p>
          <a:p>
            <a:pPr algn="ctr">
              <a:spcBef>
                <a:spcPts val="90"/>
              </a:spcBef>
              <a:buNone/>
            </a:pPr>
            <a:r>
              <a:rPr lang="en-IN" sz="1100" dirty="0">
                <a:solidFill>
                  <a:srgbClr val="5F6B72"/>
                </a:solidFill>
                <a:latin typeface="Calibri"/>
                <a:cs typeface="Calibri"/>
              </a:rPr>
              <a:t>doctor-to-patient consultation time reduced from typical </a:t>
            </a:r>
          </a:p>
          <a:p>
            <a:pPr algn="ctr">
              <a:spcBef>
                <a:spcPts val="90"/>
              </a:spcBef>
              <a:buNone/>
            </a:pPr>
            <a:r>
              <a:rPr lang="en-IN" sz="1100" dirty="0">
                <a:solidFill>
                  <a:srgbClr val="5F6B72"/>
                </a:solidFill>
                <a:latin typeface="Calibri"/>
                <a:cs typeface="Calibri"/>
              </a:rPr>
              <a:t>10-12 min</a:t>
            </a:r>
          </a:p>
        </p:txBody>
      </p:sp>
      <p:sp>
        <p:nvSpPr>
          <p:cNvPr id="2111" name="Stat"/>
          <p:cNvSpPr/>
          <p:nvPr/>
        </p:nvSpPr>
        <p:spPr>
          <a:xfrm>
            <a:off x="8104632" y="4700016"/>
            <a:ext cx="3581400" cy="987552"/>
          </a:xfrm>
          <a:prstGeom prst="roundRect">
            <a:avLst>
              <a:gd name="adj" fmla="val 9000"/>
            </a:avLst>
          </a:prstGeom>
          <a:solidFill>
            <a:srgbClr val="EEF5FB"/>
          </a:solidFill>
          <a:ln w="9525">
            <a:solidFill>
              <a:srgbClr val="C7D8E6"/>
            </a:solidFill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buNone/>
            </a:pPr>
            <a:r>
              <a:rPr lang="en-IN" sz="2400" b="1" dirty="0">
                <a:solidFill>
                  <a:srgbClr val="0070C0"/>
                </a:solidFill>
                <a:latin typeface="Times New Roman"/>
                <a:cs typeface="Times New Roman"/>
              </a:rPr>
              <a:t>70–80%</a:t>
            </a:r>
          </a:p>
          <a:p>
            <a:pPr algn="ctr">
              <a:spcBef>
                <a:spcPts val="90"/>
              </a:spcBef>
              <a:buNone/>
            </a:pPr>
            <a:r>
              <a:rPr lang="en-IN" sz="1100" dirty="0">
                <a:solidFill>
                  <a:srgbClr val="5F6B72"/>
                </a:solidFill>
                <a:latin typeface="Calibri"/>
                <a:cs typeface="Calibri"/>
              </a:rPr>
              <a:t>of correct diagnoses reachable from history alone</a:t>
            </a:r>
          </a:p>
        </p:txBody>
      </p:sp>
      <p:sp>
        <p:nvSpPr>
          <p:cNvPr id="2112" name="Stat note"/>
          <p:cNvSpPr txBox="1"/>
          <p:nvPr/>
        </p:nvSpPr>
        <p:spPr>
          <a:xfrm>
            <a:off x="502920" y="5760720"/>
            <a:ext cx="11183112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>
              <a:spcBef>
                <a:spcPts val="0"/>
              </a:spcBef>
              <a:buNone/>
            </a:pPr>
            <a:r>
              <a:rPr lang="en-IN" sz="870" i="1" dirty="0">
                <a:solidFill>
                  <a:srgbClr val="5F6B72"/>
                </a:solidFill>
                <a:latin typeface="Calibri"/>
                <a:cs typeface="Calibri"/>
              </a:rPr>
              <a:t>Figures as stated in the SIH26047 problem statement.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 TEAM ORIANS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113" name="H1"/>
          <p:cNvSpPr txBox="1"/>
          <p:nvPr/>
        </p:nvSpPr>
        <p:spPr>
          <a:xfrm>
            <a:off x="502920" y="1133856"/>
            <a:ext cx="69037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>
              <a:spcBef>
                <a:spcPts val="0"/>
              </a:spcBef>
              <a:buNone/>
            </a:pPr>
            <a:r>
              <a:rPr lang="en-IN" sz="1400" b="1" dirty="0">
                <a:solidFill>
                  <a:srgbClr val="17365D"/>
                </a:solidFill>
                <a:latin typeface="Times New Roman"/>
                <a:cs typeface="Times New Roman"/>
              </a:rPr>
              <a:t>LANDSCAPE REVIEW — WHY EXISTING SOLUTIONS FALL SHORT</a:t>
            </a:r>
          </a:p>
        </p:txBody>
      </p:sp>
      <p:graphicFrame>
        <p:nvGraphicFramePr>
          <p:cNvPr id="2114" name="Compariso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9043758"/>
              </p:ext>
            </p:extLst>
          </p:nvPr>
        </p:nvGraphicFramePr>
        <p:xfrm>
          <a:off x="502920" y="1408176"/>
          <a:ext cx="6903720" cy="2121408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09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09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09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5097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5097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/>
                    </a:p>
                  </a:txBody>
                  <a:tcPr marL="45720" marR="45720" marT="27432" marB="27432" anchor="ctr">
                    <a:lnL w="6350">
                      <a:solidFill>
                        <a:srgbClr val="C7D8E6"/>
                      </a:solidFill>
                    </a:lnL>
                    <a:lnR w="6350">
                      <a:solidFill>
                        <a:srgbClr val="C7D8E6"/>
                      </a:solidFill>
                    </a:lnR>
                    <a:lnT w="6350">
                      <a:solidFill>
                        <a:srgbClr val="C7D8E6"/>
                      </a:solidFill>
                    </a:lnT>
                    <a:lnB w="6350">
                      <a:solidFill>
                        <a:srgbClr val="C7D8E6"/>
                      </a:solidFill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Structured clinical history</a:t>
                      </a:r>
                    </a:p>
                  </a:txBody>
                  <a:tcPr marL="45720" marR="45720" marT="27432" marB="27432" anchor="ctr">
                    <a:lnL w="6350">
                      <a:solidFill>
                        <a:srgbClr val="C7D8E6"/>
                      </a:solidFill>
                    </a:lnL>
                    <a:lnR w="6350">
                      <a:solidFill>
                        <a:srgbClr val="C7D8E6"/>
                      </a:solidFill>
                    </a:lnR>
                    <a:lnT w="6350">
                      <a:solidFill>
                        <a:srgbClr val="C7D8E6"/>
                      </a:solidFill>
                    </a:lnT>
                    <a:lnB w="6350">
                      <a:solidFill>
                        <a:srgbClr val="C7D8E6"/>
                      </a:solidFill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Digitises the patient's paper</a:t>
                      </a:r>
                    </a:p>
                  </a:txBody>
                  <a:tcPr marL="45720" marR="45720" marT="27432" marB="27432" anchor="ctr">
                    <a:lnL w="6350">
                      <a:solidFill>
                        <a:srgbClr val="C7D8E6"/>
                      </a:solidFill>
                    </a:lnL>
                    <a:lnR w="6350">
                      <a:solidFill>
                        <a:srgbClr val="C7D8E6"/>
                      </a:solidFill>
                    </a:lnR>
                    <a:lnT w="6350">
                      <a:solidFill>
                        <a:srgbClr val="C7D8E6"/>
                      </a:solidFill>
                    </a:lnT>
                    <a:lnB w="6350">
                      <a:solidFill>
                        <a:srgbClr val="C7D8E6"/>
                      </a:solidFill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Works without a smartphone</a:t>
                      </a:r>
                    </a:p>
                  </a:txBody>
                  <a:tcPr marL="45720" marR="45720" marT="27432" marB="27432" anchor="ctr">
                    <a:lnL w="6350">
                      <a:solidFill>
                        <a:srgbClr val="C7D8E6"/>
                      </a:solidFill>
                    </a:lnL>
                    <a:lnR w="6350">
                      <a:solidFill>
                        <a:srgbClr val="C7D8E6"/>
                      </a:solidFill>
                    </a:lnR>
                    <a:lnT w="6350">
                      <a:solidFill>
                        <a:srgbClr val="C7D8E6"/>
                      </a:solidFill>
                    </a:lnT>
                    <a:lnB w="6350">
                      <a:solidFill>
                        <a:srgbClr val="C7D8E6"/>
                      </a:solidFill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Dashavidha Pariksha</a:t>
                      </a:r>
                    </a:p>
                  </a:txBody>
                  <a:tcPr marL="45720" marR="45720" marT="27432" marB="27432" anchor="ctr">
                    <a:lnL w="6350">
                      <a:solidFill>
                        <a:srgbClr val="C7D8E6"/>
                      </a:solidFill>
                    </a:lnL>
                    <a:lnR w="6350">
                      <a:solidFill>
                        <a:srgbClr val="C7D8E6"/>
                      </a:solidFill>
                    </a:lnR>
                    <a:lnT w="6350">
                      <a:solidFill>
                        <a:srgbClr val="C7D8E6"/>
                      </a:solidFill>
                    </a:lnT>
                    <a:lnB w="6350">
                      <a:solidFill>
                        <a:srgbClr val="C7D8E6"/>
                      </a:solidFill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Runs before the consult</a:t>
                      </a:r>
                    </a:p>
                  </a:txBody>
                  <a:tcPr marL="45720" marR="45720" marT="27432" marB="27432" anchor="ctr">
                    <a:lnL w="6350">
                      <a:solidFill>
                        <a:srgbClr val="C7D8E6"/>
                      </a:solidFill>
                    </a:lnL>
                    <a:lnR w="6350">
                      <a:solidFill>
                        <a:srgbClr val="C7D8E6"/>
                      </a:solidFill>
                    </a:lnR>
                    <a:lnT w="6350">
                      <a:solidFill>
                        <a:srgbClr val="C7D8E6"/>
                      </a:solidFill>
                    </a:lnT>
                    <a:lnB w="6350">
                      <a:solidFill>
                        <a:srgbClr val="C7D8E6"/>
                      </a:solidFill>
                    </a:lnB>
                    <a:solidFill>
                      <a:srgbClr val="173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Hospital registration systems</a:t>
                      </a:r>
                    </a:p>
                  </a:txBody>
                  <a:tcPr marL="45720" marR="45720" marT="27432" marB="27432" anchor="ctr">
                    <a:lnL w="6350">
                      <a:solidFill>
                        <a:srgbClr val="C7D8E6"/>
                      </a:solidFill>
                    </a:lnL>
                    <a:lnR w="6350">
                      <a:solidFill>
                        <a:srgbClr val="C7D8E6"/>
                      </a:solidFill>
                    </a:lnR>
                    <a:lnT w="6350">
                      <a:solidFill>
                        <a:srgbClr val="C7D8E6"/>
                      </a:solidFill>
                    </a:lnT>
                    <a:lnB w="6350">
                      <a:solidFill>
                        <a:srgbClr val="C7D8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solidFill>
                            <a:srgbClr val="B23A2B"/>
                          </a:solidFill>
                          <a:latin typeface="Calibri"/>
                          <a:cs typeface="Calibri"/>
                        </a:rPr>
                        <a:t>✗</a:t>
                      </a:r>
                    </a:p>
                  </a:txBody>
                  <a:tcPr marL="45720" marR="45720" marT="27432" marB="27432" anchor="ctr">
                    <a:lnL w="6350">
                      <a:solidFill>
                        <a:srgbClr val="C7D8E6"/>
                      </a:solidFill>
                    </a:lnL>
                    <a:lnR w="6350">
                      <a:solidFill>
                        <a:srgbClr val="C7D8E6"/>
                      </a:solidFill>
                    </a:lnR>
                    <a:lnT w="6350">
                      <a:solidFill>
                        <a:srgbClr val="C7D8E6"/>
                      </a:solidFill>
                    </a:lnT>
                    <a:lnB w="6350">
                      <a:solidFill>
                        <a:srgbClr val="C7D8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solidFill>
                            <a:srgbClr val="B23A2B"/>
                          </a:solidFill>
                          <a:latin typeface="Calibri"/>
                          <a:cs typeface="Calibri"/>
                        </a:rPr>
                        <a:t>✗</a:t>
                      </a:r>
                    </a:p>
                  </a:txBody>
                  <a:tcPr marL="45720" marR="45720" marT="27432" marB="27432" anchor="ctr">
                    <a:lnL w="6350">
                      <a:solidFill>
                        <a:srgbClr val="C7D8E6"/>
                      </a:solidFill>
                    </a:lnL>
                    <a:lnR w="6350">
                      <a:solidFill>
                        <a:srgbClr val="C7D8E6"/>
                      </a:solidFill>
                    </a:lnR>
                    <a:lnT w="6350">
                      <a:solidFill>
                        <a:srgbClr val="C7D8E6"/>
                      </a:solidFill>
                    </a:lnT>
                    <a:lnB w="6350">
                      <a:solidFill>
                        <a:srgbClr val="C7D8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solidFill>
                            <a:srgbClr val="1F7A5A"/>
                          </a:solidFill>
                          <a:latin typeface="Calibri"/>
                          <a:cs typeface="Calibri"/>
                        </a:rPr>
                        <a:t>✓</a:t>
                      </a:r>
                    </a:p>
                  </a:txBody>
                  <a:tcPr marL="45720" marR="45720" marT="27432" marB="27432" anchor="ctr">
                    <a:lnL w="6350">
                      <a:solidFill>
                        <a:srgbClr val="C7D8E6"/>
                      </a:solidFill>
                    </a:lnL>
                    <a:lnR w="6350">
                      <a:solidFill>
                        <a:srgbClr val="C7D8E6"/>
                      </a:solidFill>
                    </a:lnR>
                    <a:lnT w="6350">
                      <a:solidFill>
                        <a:srgbClr val="C7D8E6"/>
                      </a:solidFill>
                    </a:lnT>
                    <a:lnB w="6350">
                      <a:solidFill>
                        <a:srgbClr val="C7D8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solidFill>
                            <a:srgbClr val="B23A2B"/>
                          </a:solidFill>
                          <a:latin typeface="Calibri"/>
                          <a:cs typeface="Calibri"/>
                        </a:rPr>
                        <a:t>✗</a:t>
                      </a:r>
                    </a:p>
                  </a:txBody>
                  <a:tcPr marL="45720" marR="45720" marT="27432" marB="27432" anchor="ctr">
                    <a:lnL w="6350">
                      <a:solidFill>
                        <a:srgbClr val="C7D8E6"/>
                      </a:solidFill>
                    </a:lnL>
                    <a:lnR w="6350">
                      <a:solidFill>
                        <a:srgbClr val="C7D8E6"/>
                      </a:solidFill>
                    </a:lnR>
                    <a:lnT w="6350">
                      <a:solidFill>
                        <a:srgbClr val="C7D8E6"/>
                      </a:solidFill>
                    </a:lnT>
                    <a:lnB w="6350">
                      <a:solidFill>
                        <a:srgbClr val="C7D8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solidFill>
                            <a:srgbClr val="1F7A5A"/>
                          </a:solidFill>
                          <a:latin typeface="Calibri"/>
                          <a:cs typeface="Calibri"/>
                        </a:rPr>
                        <a:t>✓</a:t>
                      </a:r>
                    </a:p>
                  </a:txBody>
                  <a:tcPr marL="45720" marR="45720" marT="27432" marB="27432" anchor="ctr">
                    <a:lnL w="6350">
                      <a:solidFill>
                        <a:srgbClr val="C7D8E6"/>
                      </a:solidFill>
                    </a:lnL>
                    <a:lnR w="6350">
                      <a:solidFill>
                        <a:srgbClr val="C7D8E6"/>
                      </a:solidFill>
                    </a:lnR>
                    <a:lnT w="6350">
                      <a:solidFill>
                        <a:srgbClr val="C7D8E6"/>
                      </a:solidFill>
                    </a:lnT>
                    <a:lnB w="6350">
                      <a:solidFill>
                        <a:srgbClr val="C7D8E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Mobile health apps / tele-triage</a:t>
                      </a:r>
                    </a:p>
                  </a:txBody>
                  <a:tcPr marL="45720" marR="45720" marT="27432" marB="27432" anchor="ctr">
                    <a:lnL w="6350">
                      <a:solidFill>
                        <a:srgbClr val="C7D8E6"/>
                      </a:solidFill>
                    </a:lnL>
                    <a:lnR w="6350">
                      <a:solidFill>
                        <a:srgbClr val="C7D8E6"/>
                      </a:solidFill>
                    </a:lnR>
                    <a:lnT w="6350">
                      <a:solidFill>
                        <a:srgbClr val="C7D8E6"/>
                      </a:solidFill>
                    </a:lnT>
                    <a:lnB w="6350">
                      <a:solidFill>
                        <a:srgbClr val="C7D8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solidFill>
                            <a:srgbClr val="1F7A5A"/>
                          </a:solidFill>
                          <a:latin typeface="Calibri"/>
                          <a:cs typeface="Calibri"/>
                        </a:rPr>
                        <a:t>✓</a:t>
                      </a:r>
                    </a:p>
                  </a:txBody>
                  <a:tcPr marL="45720" marR="45720" marT="27432" marB="27432" anchor="ctr">
                    <a:lnL w="6350">
                      <a:solidFill>
                        <a:srgbClr val="C7D8E6"/>
                      </a:solidFill>
                    </a:lnL>
                    <a:lnR w="6350">
                      <a:solidFill>
                        <a:srgbClr val="C7D8E6"/>
                      </a:solidFill>
                    </a:lnR>
                    <a:lnT w="6350">
                      <a:solidFill>
                        <a:srgbClr val="C7D8E6"/>
                      </a:solidFill>
                    </a:lnT>
                    <a:lnB w="6350">
                      <a:solidFill>
                        <a:srgbClr val="C7D8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solidFill>
                            <a:srgbClr val="B23A2B"/>
                          </a:solidFill>
                          <a:latin typeface="Calibri"/>
                          <a:cs typeface="Calibri"/>
                        </a:rPr>
                        <a:t>✗</a:t>
                      </a:r>
                    </a:p>
                  </a:txBody>
                  <a:tcPr marL="45720" marR="45720" marT="27432" marB="27432" anchor="ctr">
                    <a:lnL w="6350">
                      <a:solidFill>
                        <a:srgbClr val="C7D8E6"/>
                      </a:solidFill>
                    </a:lnL>
                    <a:lnR w="6350">
                      <a:solidFill>
                        <a:srgbClr val="C7D8E6"/>
                      </a:solidFill>
                    </a:lnR>
                    <a:lnT w="6350">
                      <a:solidFill>
                        <a:srgbClr val="C7D8E6"/>
                      </a:solidFill>
                    </a:lnT>
                    <a:lnB w="6350">
                      <a:solidFill>
                        <a:srgbClr val="C7D8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solidFill>
                            <a:srgbClr val="B23A2B"/>
                          </a:solidFill>
                          <a:latin typeface="Calibri"/>
                          <a:cs typeface="Calibri"/>
                        </a:rPr>
                        <a:t>✗</a:t>
                      </a:r>
                    </a:p>
                  </a:txBody>
                  <a:tcPr marL="45720" marR="45720" marT="27432" marB="27432" anchor="ctr">
                    <a:lnL w="6350">
                      <a:solidFill>
                        <a:srgbClr val="C7D8E6"/>
                      </a:solidFill>
                    </a:lnL>
                    <a:lnR w="6350">
                      <a:solidFill>
                        <a:srgbClr val="C7D8E6"/>
                      </a:solidFill>
                    </a:lnR>
                    <a:lnT w="6350">
                      <a:solidFill>
                        <a:srgbClr val="C7D8E6"/>
                      </a:solidFill>
                    </a:lnT>
                    <a:lnB w="6350">
                      <a:solidFill>
                        <a:srgbClr val="C7D8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solidFill>
                            <a:srgbClr val="B23A2B"/>
                          </a:solidFill>
                          <a:latin typeface="Calibri"/>
                          <a:cs typeface="Calibri"/>
                        </a:rPr>
                        <a:t>✗</a:t>
                      </a:r>
                    </a:p>
                  </a:txBody>
                  <a:tcPr marL="45720" marR="45720" marT="27432" marB="27432" anchor="ctr">
                    <a:lnL w="6350">
                      <a:solidFill>
                        <a:srgbClr val="C7D8E6"/>
                      </a:solidFill>
                    </a:lnL>
                    <a:lnR w="6350">
                      <a:solidFill>
                        <a:srgbClr val="C7D8E6"/>
                      </a:solidFill>
                    </a:lnR>
                    <a:lnT w="6350">
                      <a:solidFill>
                        <a:srgbClr val="C7D8E6"/>
                      </a:solidFill>
                    </a:lnT>
                    <a:lnB w="6350">
                      <a:solidFill>
                        <a:srgbClr val="C7D8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solidFill>
                            <a:srgbClr val="1F7A5A"/>
                          </a:solidFill>
                          <a:latin typeface="Calibri"/>
                          <a:cs typeface="Calibri"/>
                        </a:rPr>
                        <a:t>✓</a:t>
                      </a:r>
                    </a:p>
                  </a:txBody>
                  <a:tcPr marL="45720" marR="45720" marT="27432" marB="27432" anchor="ctr">
                    <a:lnL w="6350">
                      <a:solidFill>
                        <a:srgbClr val="C7D8E6"/>
                      </a:solidFill>
                    </a:lnL>
                    <a:lnR w="6350">
                      <a:solidFill>
                        <a:srgbClr val="C7D8E6"/>
                      </a:solidFill>
                    </a:lnR>
                    <a:lnT w="6350">
                      <a:solidFill>
                        <a:srgbClr val="C7D8E6"/>
                      </a:solidFill>
                    </a:lnT>
                    <a:lnB w="6350">
                      <a:solidFill>
                        <a:srgbClr val="C7D8E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Nurse-led history desks</a:t>
                      </a:r>
                    </a:p>
                  </a:txBody>
                  <a:tcPr marL="45720" marR="45720" marT="27432" marB="27432" anchor="ctr">
                    <a:lnL w="6350">
                      <a:solidFill>
                        <a:srgbClr val="C7D8E6"/>
                      </a:solidFill>
                    </a:lnL>
                    <a:lnR w="6350">
                      <a:solidFill>
                        <a:srgbClr val="C7D8E6"/>
                      </a:solidFill>
                    </a:lnR>
                    <a:lnT w="6350">
                      <a:solidFill>
                        <a:srgbClr val="C7D8E6"/>
                      </a:solidFill>
                    </a:lnT>
                    <a:lnB w="6350">
                      <a:solidFill>
                        <a:srgbClr val="C7D8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solidFill>
                            <a:srgbClr val="1F7A5A"/>
                          </a:solidFill>
                          <a:latin typeface="Calibri"/>
                          <a:cs typeface="Calibri"/>
                        </a:rPr>
                        <a:t>✓</a:t>
                      </a:r>
                    </a:p>
                  </a:txBody>
                  <a:tcPr marL="45720" marR="45720" marT="27432" marB="27432" anchor="ctr">
                    <a:lnL w="6350">
                      <a:solidFill>
                        <a:srgbClr val="C7D8E6"/>
                      </a:solidFill>
                    </a:lnL>
                    <a:lnR w="6350">
                      <a:solidFill>
                        <a:srgbClr val="C7D8E6"/>
                      </a:solidFill>
                    </a:lnR>
                    <a:lnT w="6350">
                      <a:solidFill>
                        <a:srgbClr val="C7D8E6"/>
                      </a:solidFill>
                    </a:lnT>
                    <a:lnB w="6350">
                      <a:solidFill>
                        <a:srgbClr val="C7D8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solidFill>
                            <a:srgbClr val="B23A2B"/>
                          </a:solidFill>
                          <a:latin typeface="Calibri"/>
                          <a:cs typeface="Calibri"/>
                        </a:rPr>
                        <a:t>✗</a:t>
                      </a:r>
                    </a:p>
                  </a:txBody>
                  <a:tcPr marL="45720" marR="45720" marT="27432" marB="27432" anchor="ctr">
                    <a:lnL w="6350">
                      <a:solidFill>
                        <a:srgbClr val="C7D8E6"/>
                      </a:solidFill>
                    </a:lnL>
                    <a:lnR w="6350">
                      <a:solidFill>
                        <a:srgbClr val="C7D8E6"/>
                      </a:solidFill>
                    </a:lnR>
                    <a:lnT w="6350">
                      <a:solidFill>
                        <a:srgbClr val="C7D8E6"/>
                      </a:solidFill>
                    </a:lnT>
                    <a:lnB w="6350">
                      <a:solidFill>
                        <a:srgbClr val="C7D8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solidFill>
                            <a:srgbClr val="1F7A5A"/>
                          </a:solidFill>
                          <a:latin typeface="Calibri"/>
                          <a:cs typeface="Calibri"/>
                        </a:rPr>
                        <a:t>✓</a:t>
                      </a:r>
                    </a:p>
                  </a:txBody>
                  <a:tcPr marL="45720" marR="45720" marT="27432" marB="27432" anchor="ctr">
                    <a:lnL w="6350">
                      <a:solidFill>
                        <a:srgbClr val="C7D8E6"/>
                      </a:solidFill>
                    </a:lnL>
                    <a:lnR w="6350">
                      <a:solidFill>
                        <a:srgbClr val="C7D8E6"/>
                      </a:solidFill>
                    </a:lnR>
                    <a:lnT w="6350">
                      <a:solidFill>
                        <a:srgbClr val="C7D8E6"/>
                      </a:solidFill>
                    </a:lnT>
                    <a:lnB w="6350">
                      <a:solidFill>
                        <a:srgbClr val="C7D8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solidFill>
                            <a:srgbClr val="B8791A"/>
                          </a:solidFill>
                          <a:latin typeface="Calibri"/>
                          <a:cs typeface="Calibri"/>
                        </a:rPr>
                        <a:t>~</a:t>
                      </a:r>
                    </a:p>
                  </a:txBody>
                  <a:tcPr marL="45720" marR="45720" marT="27432" marB="27432" anchor="ctr">
                    <a:lnL w="6350">
                      <a:solidFill>
                        <a:srgbClr val="C7D8E6"/>
                      </a:solidFill>
                    </a:lnL>
                    <a:lnR w="6350">
                      <a:solidFill>
                        <a:srgbClr val="C7D8E6"/>
                      </a:solidFill>
                    </a:lnR>
                    <a:lnT w="6350">
                      <a:solidFill>
                        <a:srgbClr val="C7D8E6"/>
                      </a:solidFill>
                    </a:lnT>
                    <a:lnB w="6350">
                      <a:solidFill>
                        <a:srgbClr val="C7D8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solidFill>
                            <a:srgbClr val="1F7A5A"/>
                          </a:solidFill>
                          <a:latin typeface="Calibri"/>
                          <a:cs typeface="Calibri"/>
                        </a:rPr>
                        <a:t>✓</a:t>
                      </a:r>
                    </a:p>
                  </a:txBody>
                  <a:tcPr marL="45720" marR="45720" marT="27432" marB="27432" anchor="ctr">
                    <a:lnL w="6350">
                      <a:solidFill>
                        <a:srgbClr val="C7D8E6"/>
                      </a:solidFill>
                    </a:lnL>
                    <a:lnR w="6350">
                      <a:solidFill>
                        <a:srgbClr val="C7D8E6"/>
                      </a:solidFill>
                    </a:lnR>
                    <a:lnT w="6350">
                      <a:solidFill>
                        <a:srgbClr val="C7D8E6"/>
                      </a:solidFill>
                    </a:lnT>
                    <a:lnB w="6350">
                      <a:solidFill>
                        <a:srgbClr val="C7D8E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Generic document scanners</a:t>
                      </a:r>
                    </a:p>
                  </a:txBody>
                  <a:tcPr marL="45720" marR="45720" marT="27432" marB="27432" anchor="ctr">
                    <a:lnL w="6350">
                      <a:solidFill>
                        <a:srgbClr val="C7D8E6"/>
                      </a:solidFill>
                    </a:lnL>
                    <a:lnR w="6350">
                      <a:solidFill>
                        <a:srgbClr val="C7D8E6"/>
                      </a:solidFill>
                    </a:lnR>
                    <a:lnT w="6350">
                      <a:solidFill>
                        <a:srgbClr val="C7D8E6"/>
                      </a:solidFill>
                    </a:lnT>
                    <a:lnB w="6350">
                      <a:solidFill>
                        <a:srgbClr val="C7D8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solidFill>
                            <a:srgbClr val="B23A2B"/>
                          </a:solidFill>
                          <a:latin typeface="Calibri"/>
                          <a:cs typeface="Calibri"/>
                        </a:rPr>
                        <a:t>✗</a:t>
                      </a:r>
                    </a:p>
                  </a:txBody>
                  <a:tcPr marL="45720" marR="45720" marT="27432" marB="27432" anchor="ctr">
                    <a:lnL w="6350">
                      <a:solidFill>
                        <a:srgbClr val="C7D8E6"/>
                      </a:solidFill>
                    </a:lnL>
                    <a:lnR w="6350">
                      <a:solidFill>
                        <a:srgbClr val="C7D8E6"/>
                      </a:solidFill>
                    </a:lnR>
                    <a:lnT w="6350">
                      <a:solidFill>
                        <a:srgbClr val="C7D8E6"/>
                      </a:solidFill>
                    </a:lnT>
                    <a:lnB w="6350">
                      <a:solidFill>
                        <a:srgbClr val="C7D8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solidFill>
                            <a:srgbClr val="B8791A"/>
                          </a:solidFill>
                          <a:latin typeface="Calibri"/>
                          <a:cs typeface="Calibri"/>
                        </a:rPr>
                        <a:t>~</a:t>
                      </a:r>
                    </a:p>
                  </a:txBody>
                  <a:tcPr marL="45720" marR="45720" marT="27432" marB="27432" anchor="ctr">
                    <a:lnL w="6350">
                      <a:solidFill>
                        <a:srgbClr val="C7D8E6"/>
                      </a:solidFill>
                    </a:lnL>
                    <a:lnR w="6350">
                      <a:solidFill>
                        <a:srgbClr val="C7D8E6"/>
                      </a:solidFill>
                    </a:lnR>
                    <a:lnT w="6350">
                      <a:solidFill>
                        <a:srgbClr val="C7D8E6"/>
                      </a:solidFill>
                    </a:lnT>
                    <a:lnB w="6350">
                      <a:solidFill>
                        <a:srgbClr val="C7D8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solidFill>
                            <a:srgbClr val="1F7A5A"/>
                          </a:solidFill>
                          <a:latin typeface="Calibri"/>
                          <a:cs typeface="Calibri"/>
                        </a:rPr>
                        <a:t>✓</a:t>
                      </a:r>
                    </a:p>
                  </a:txBody>
                  <a:tcPr marL="45720" marR="45720" marT="27432" marB="27432" anchor="ctr">
                    <a:lnL w="6350">
                      <a:solidFill>
                        <a:srgbClr val="C7D8E6"/>
                      </a:solidFill>
                    </a:lnL>
                    <a:lnR w="6350">
                      <a:solidFill>
                        <a:srgbClr val="C7D8E6"/>
                      </a:solidFill>
                    </a:lnR>
                    <a:lnT w="6350">
                      <a:solidFill>
                        <a:srgbClr val="C7D8E6"/>
                      </a:solidFill>
                    </a:lnT>
                    <a:lnB w="6350">
                      <a:solidFill>
                        <a:srgbClr val="C7D8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solidFill>
                            <a:srgbClr val="B23A2B"/>
                          </a:solidFill>
                          <a:latin typeface="Calibri"/>
                          <a:cs typeface="Calibri"/>
                        </a:rPr>
                        <a:t>✗</a:t>
                      </a:r>
                    </a:p>
                  </a:txBody>
                  <a:tcPr marL="45720" marR="45720" marT="27432" marB="27432" anchor="ctr">
                    <a:lnL w="6350">
                      <a:solidFill>
                        <a:srgbClr val="C7D8E6"/>
                      </a:solidFill>
                    </a:lnL>
                    <a:lnR w="6350">
                      <a:solidFill>
                        <a:srgbClr val="C7D8E6"/>
                      </a:solidFill>
                    </a:lnR>
                    <a:lnT w="6350">
                      <a:solidFill>
                        <a:srgbClr val="C7D8E6"/>
                      </a:solidFill>
                    </a:lnT>
                    <a:lnB w="6350">
                      <a:solidFill>
                        <a:srgbClr val="C7D8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solidFill>
                            <a:srgbClr val="1F7A5A"/>
                          </a:solidFill>
                          <a:latin typeface="Calibri"/>
                          <a:cs typeface="Calibri"/>
                        </a:rPr>
                        <a:t>✓</a:t>
                      </a:r>
                    </a:p>
                  </a:txBody>
                  <a:tcPr marL="45720" marR="45720" marT="27432" marB="27432" anchor="ctr">
                    <a:lnL w="6350">
                      <a:solidFill>
                        <a:srgbClr val="C7D8E6"/>
                      </a:solidFill>
                    </a:lnL>
                    <a:lnR w="6350">
                      <a:solidFill>
                        <a:srgbClr val="C7D8E6"/>
                      </a:solidFill>
                    </a:lnR>
                    <a:lnT w="6350">
                      <a:solidFill>
                        <a:srgbClr val="C7D8E6"/>
                      </a:solidFill>
                    </a:lnT>
                    <a:lnB w="6350">
                      <a:solidFill>
                        <a:srgbClr val="C7D8E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800" b="1" dirty="0">
                          <a:solidFill>
                            <a:srgbClr val="17365D"/>
                          </a:solidFill>
                          <a:latin typeface="Calibri"/>
                          <a:cs typeface="Calibri"/>
                        </a:rPr>
                        <a:t>MediKiosk</a:t>
                      </a:r>
                    </a:p>
                  </a:txBody>
                  <a:tcPr marL="45720" marR="45720" marT="27432" marB="27432" anchor="ctr">
                    <a:lnL w="6350">
                      <a:solidFill>
                        <a:srgbClr val="C7D8E6"/>
                      </a:solidFill>
                    </a:lnL>
                    <a:lnR w="6350">
                      <a:solidFill>
                        <a:srgbClr val="C7D8E6"/>
                      </a:solidFill>
                    </a:lnR>
                    <a:lnT w="6350">
                      <a:solidFill>
                        <a:srgbClr val="C7D8E6"/>
                      </a:solidFill>
                    </a:lnT>
                    <a:lnB w="6350">
                      <a:solidFill>
                        <a:srgbClr val="C7D8E6"/>
                      </a:solidFill>
                    </a:lnB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solidFill>
                            <a:srgbClr val="1F7A5A"/>
                          </a:solidFill>
                          <a:latin typeface="Calibri"/>
                          <a:cs typeface="Calibri"/>
                        </a:rPr>
                        <a:t>✓</a:t>
                      </a:r>
                    </a:p>
                  </a:txBody>
                  <a:tcPr marL="45720" marR="45720" marT="27432" marB="27432" anchor="ctr">
                    <a:lnL w="6350">
                      <a:solidFill>
                        <a:srgbClr val="C7D8E6"/>
                      </a:solidFill>
                    </a:lnL>
                    <a:lnR w="6350">
                      <a:solidFill>
                        <a:srgbClr val="C7D8E6"/>
                      </a:solidFill>
                    </a:lnR>
                    <a:lnT w="6350">
                      <a:solidFill>
                        <a:srgbClr val="C7D8E6"/>
                      </a:solidFill>
                    </a:lnT>
                    <a:lnB w="6350">
                      <a:solidFill>
                        <a:srgbClr val="C7D8E6"/>
                      </a:solidFill>
                    </a:lnB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solidFill>
                            <a:srgbClr val="1F7A5A"/>
                          </a:solidFill>
                          <a:latin typeface="Calibri"/>
                          <a:cs typeface="Calibri"/>
                        </a:rPr>
                        <a:t>✓</a:t>
                      </a:r>
                    </a:p>
                  </a:txBody>
                  <a:tcPr marL="45720" marR="45720" marT="27432" marB="27432" anchor="ctr">
                    <a:lnL w="6350">
                      <a:solidFill>
                        <a:srgbClr val="C7D8E6"/>
                      </a:solidFill>
                    </a:lnL>
                    <a:lnR w="6350">
                      <a:solidFill>
                        <a:srgbClr val="C7D8E6"/>
                      </a:solidFill>
                    </a:lnR>
                    <a:lnT w="6350">
                      <a:solidFill>
                        <a:srgbClr val="C7D8E6"/>
                      </a:solidFill>
                    </a:lnT>
                    <a:lnB w="6350">
                      <a:solidFill>
                        <a:srgbClr val="C7D8E6"/>
                      </a:solidFill>
                    </a:lnB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solidFill>
                            <a:srgbClr val="1F7A5A"/>
                          </a:solidFill>
                          <a:latin typeface="Calibri"/>
                          <a:cs typeface="Calibri"/>
                        </a:rPr>
                        <a:t>✓</a:t>
                      </a:r>
                    </a:p>
                  </a:txBody>
                  <a:tcPr marL="45720" marR="45720" marT="27432" marB="27432" anchor="ctr">
                    <a:lnL w="6350">
                      <a:solidFill>
                        <a:srgbClr val="C7D8E6"/>
                      </a:solidFill>
                    </a:lnL>
                    <a:lnR w="6350">
                      <a:solidFill>
                        <a:srgbClr val="C7D8E6"/>
                      </a:solidFill>
                    </a:lnR>
                    <a:lnT w="6350">
                      <a:solidFill>
                        <a:srgbClr val="C7D8E6"/>
                      </a:solidFill>
                    </a:lnT>
                    <a:lnB w="6350">
                      <a:solidFill>
                        <a:srgbClr val="C7D8E6"/>
                      </a:solidFill>
                    </a:lnB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solidFill>
                            <a:srgbClr val="1F7A5A"/>
                          </a:solidFill>
                          <a:latin typeface="Calibri"/>
                          <a:cs typeface="Calibri"/>
                        </a:rPr>
                        <a:t>✓</a:t>
                      </a:r>
                    </a:p>
                  </a:txBody>
                  <a:tcPr marL="45720" marR="45720" marT="27432" marB="27432" anchor="ctr">
                    <a:lnL w="6350">
                      <a:solidFill>
                        <a:srgbClr val="C7D8E6"/>
                      </a:solidFill>
                    </a:lnL>
                    <a:lnR w="6350">
                      <a:solidFill>
                        <a:srgbClr val="C7D8E6"/>
                      </a:solidFill>
                    </a:lnR>
                    <a:lnT w="6350">
                      <a:solidFill>
                        <a:srgbClr val="C7D8E6"/>
                      </a:solidFill>
                    </a:lnT>
                    <a:lnB w="6350">
                      <a:solidFill>
                        <a:srgbClr val="C7D8E6"/>
                      </a:solidFill>
                    </a:lnB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solidFill>
                            <a:srgbClr val="1F7A5A"/>
                          </a:solidFill>
                          <a:latin typeface="Calibri"/>
                          <a:cs typeface="Calibri"/>
                        </a:rPr>
                        <a:t>✓</a:t>
                      </a:r>
                    </a:p>
                  </a:txBody>
                  <a:tcPr marL="45720" marR="45720" marT="27432" marB="27432" anchor="ctr">
                    <a:lnL w="6350">
                      <a:solidFill>
                        <a:srgbClr val="C7D8E6"/>
                      </a:solidFill>
                    </a:lnL>
                    <a:lnR w="6350">
                      <a:solidFill>
                        <a:srgbClr val="C7D8E6"/>
                      </a:solidFill>
                    </a:lnR>
                    <a:lnT w="6350">
                      <a:solidFill>
                        <a:srgbClr val="C7D8E6"/>
                      </a:solidFill>
                    </a:lnT>
                    <a:lnB w="6350">
                      <a:solidFill>
                        <a:srgbClr val="C7D8E6"/>
                      </a:solidFill>
                    </a:lnB>
                    <a:solidFill>
                      <a:srgbClr val="EE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115" name="Matrix note"/>
          <p:cNvSpPr txBox="1"/>
          <p:nvPr/>
        </p:nvSpPr>
        <p:spPr>
          <a:xfrm>
            <a:off x="502920" y="3639312"/>
            <a:ext cx="690372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>
              <a:spcBef>
                <a:spcPts val="0"/>
              </a:spcBef>
              <a:buNone/>
            </a:pPr>
            <a:r>
              <a:rPr lang="en-IN" sz="840" i="1" dirty="0">
                <a:solidFill>
                  <a:srgbClr val="5F6B72"/>
                </a:solidFill>
                <a:latin typeface="Calibri"/>
                <a:cs typeface="Calibri"/>
              </a:rPr>
              <a:t>Categories and shortcomings as set out in section 2.2 of the SIH26047 problem statement.   ✓ meets   ~ partly   ✗ does not.</a:t>
            </a:r>
          </a:p>
        </p:txBody>
      </p:sp>
      <p:sp>
        <p:nvSpPr>
          <p:cNvPr id="2116" name="Card body"/>
          <p:cNvSpPr/>
          <p:nvPr/>
        </p:nvSpPr>
        <p:spPr>
          <a:xfrm>
            <a:off x="7635240" y="1133856"/>
            <a:ext cx="4050792" cy="303580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C7D8E6"/>
            </a:solidFill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2117" name="Card head"/>
          <p:cNvSpPr/>
          <p:nvPr/>
        </p:nvSpPr>
        <p:spPr>
          <a:xfrm>
            <a:off x="7635240" y="1133856"/>
            <a:ext cx="4050792" cy="292608"/>
          </a:xfrm>
          <a:prstGeom prst="roundRect">
            <a:avLst>
              <a:gd name="adj" fmla="val 26000"/>
            </a:avLst>
          </a:prstGeom>
          <a:solidFill>
            <a:srgbClr val="17365D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buNone/>
            </a:pPr>
            <a:r>
              <a:rPr lang="en-IN" sz="1000" b="1" dirty="0">
                <a:solidFill>
                  <a:srgbClr val="FFFFFF"/>
                </a:solidFill>
                <a:latin typeface="Times New Roman"/>
                <a:cs typeface="Times New Roman"/>
              </a:rPr>
              <a:t>DETAILS / LINKS OF THE REFERENCE AND RESEARCH WORK</a:t>
            </a:r>
          </a:p>
        </p:txBody>
      </p:sp>
      <p:sp>
        <p:nvSpPr>
          <p:cNvPr id="2118" name="Card text"/>
          <p:cNvSpPr txBox="1"/>
          <p:nvPr/>
        </p:nvSpPr>
        <p:spPr>
          <a:xfrm>
            <a:off x="7781544" y="1508760"/>
            <a:ext cx="3758184" cy="2578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>
              <a:spcBef>
                <a:spcPts val="400"/>
              </a:spcBef>
              <a:spcAft>
                <a:spcPts val="120"/>
              </a:spcAft>
              <a:buNone/>
            </a:pPr>
            <a:r>
              <a:rPr lang="en-IN" sz="1000" b="1" dirty="0">
                <a:solidFill>
                  <a:srgbClr val="17365D"/>
                </a:solidFill>
                <a:latin typeface="Times New Roman"/>
                <a:cs typeface="Times New Roman"/>
              </a:rPr>
              <a:t>Primary sources</a:t>
            </a:r>
          </a:p>
          <a:p>
            <a:pPr marL="171450" indent="-171450">
              <a:spcBef>
                <a:spcPts val="230"/>
              </a:spcBef>
              <a:buClr>
                <a:srgbClr val="0070C0"/>
              </a:buClr>
              <a:buFont typeface="Arial"/>
              <a:buChar char="•"/>
            </a:pPr>
            <a:r>
              <a:rPr lang="en-IN" sz="1000" dirty="0">
                <a:solidFill>
                  <a:srgbClr val="1A1A1A"/>
                </a:solidFill>
                <a:latin typeface="Calibri"/>
                <a:cs typeface="Calibri"/>
              </a:rPr>
              <a:t>Official SIH26047 Problem Statement — Patient Case-Taking Software, All India Institute of Ayurveda, Ministry of Ayush</a:t>
            </a:r>
          </a:p>
          <a:p>
            <a:pPr marL="171450" indent="-171450">
              <a:spcBef>
                <a:spcPts val="230"/>
              </a:spcBef>
              <a:buClr>
                <a:srgbClr val="0070C0"/>
              </a:buClr>
              <a:buFont typeface="Arial"/>
              <a:buChar char="•"/>
            </a:pPr>
            <a:r>
              <a:rPr lang="en-IN" sz="1000" dirty="0">
                <a:solidFill>
                  <a:srgbClr val="1A1A1A"/>
                </a:solidFill>
                <a:latin typeface="Calibri"/>
                <a:cs typeface="Calibri"/>
              </a:rPr>
              <a:t>MediKiosk working prototype — [ADD GITHUB / DEMO LINK]</a:t>
            </a:r>
          </a:p>
          <a:p>
            <a:pPr marL="0" indent="0">
              <a:spcBef>
                <a:spcPts val="400"/>
              </a:spcBef>
              <a:spcAft>
                <a:spcPts val="120"/>
              </a:spcAft>
              <a:buNone/>
            </a:pPr>
            <a:r>
              <a:rPr lang="en-IN" sz="1000" b="1" dirty="0">
                <a:solidFill>
                  <a:srgbClr val="17365D"/>
                </a:solidFill>
                <a:latin typeface="Times New Roman"/>
                <a:cs typeface="Times New Roman"/>
              </a:rPr>
              <a:t>Named in the problem statement — verify each</a:t>
            </a:r>
          </a:p>
          <a:p>
            <a:pPr marL="171450" indent="-171450">
              <a:spcBef>
                <a:spcPts val="210"/>
              </a:spcBef>
              <a:buClr>
                <a:srgbClr val="0070C0"/>
              </a:buClr>
              <a:buFont typeface="Arial"/>
              <a:buChar char="•"/>
            </a:pPr>
            <a:r>
              <a:rPr lang="en-IN" sz="1000" dirty="0">
                <a:solidFill>
                  <a:srgbClr val="1A1A1A"/>
                </a:solidFill>
                <a:latin typeface="Calibri"/>
                <a:cs typeface="Calibri"/>
              </a:rPr>
              <a:t>BMJ Open, 2017 — 67-country consultation-time comparison — [VERIFY CITATION + DOI]</a:t>
            </a:r>
          </a:p>
          <a:p>
            <a:pPr marL="171450" indent="-171450">
              <a:spcBef>
                <a:spcPts val="210"/>
              </a:spcBef>
              <a:buClr>
                <a:srgbClr val="0070C0"/>
              </a:buClr>
              <a:buFont typeface="Arial"/>
              <a:buChar char="•"/>
            </a:pPr>
            <a:r>
              <a:rPr lang="en-IN" sz="1000" dirty="0">
                <a:solidFill>
                  <a:srgbClr val="1A1A1A"/>
                </a:solidFill>
                <a:latin typeface="Calibri"/>
                <a:cs typeface="Calibri"/>
              </a:rPr>
              <a:t>Ayushman Bharat Digital Mission — ABHA, HIE, FHIR — [VERIFY OFFICIAL URL]</a:t>
            </a:r>
          </a:p>
          <a:p>
            <a:pPr marL="171450" indent="-171450">
              <a:spcBef>
                <a:spcPts val="210"/>
              </a:spcBef>
              <a:buClr>
                <a:srgbClr val="0070C0"/>
              </a:buClr>
              <a:buFont typeface="Arial"/>
              <a:buChar char="•"/>
            </a:pPr>
            <a:r>
              <a:rPr lang="en-IN" sz="1000" dirty="0">
                <a:solidFill>
                  <a:srgbClr val="1A1A1A"/>
                </a:solidFill>
                <a:latin typeface="Calibri"/>
                <a:cs typeface="Calibri"/>
              </a:rPr>
              <a:t>Digital Personal Data Protection Act, 2023 — [VERIFY OFFICIAL URL]</a:t>
            </a:r>
          </a:p>
          <a:p>
            <a:pPr marL="171450" indent="-171450">
              <a:spcBef>
                <a:spcPts val="210"/>
              </a:spcBef>
              <a:buClr>
                <a:srgbClr val="0070C0"/>
              </a:buClr>
              <a:buFont typeface="Arial"/>
              <a:buChar char="•"/>
            </a:pPr>
            <a:r>
              <a:rPr lang="en-IN" sz="1000" dirty="0">
                <a:solidFill>
                  <a:srgbClr val="1A1A1A"/>
                </a:solidFill>
                <a:latin typeface="Calibri"/>
                <a:cs typeface="Calibri"/>
              </a:rPr>
              <a:t>NAMASTE terminology portal, Ministry of Ayush — [VERIFY OFFICIAL URL]</a:t>
            </a:r>
          </a:p>
          <a:p>
            <a:pPr marL="171450" indent="-171450">
              <a:spcBef>
                <a:spcPts val="210"/>
              </a:spcBef>
              <a:buClr>
                <a:srgbClr val="0070C0"/>
              </a:buClr>
              <a:buFont typeface="Arial"/>
              <a:buChar char="•"/>
            </a:pPr>
            <a:r>
              <a:rPr lang="en-IN" sz="1000" dirty="0">
                <a:solidFill>
                  <a:srgbClr val="1A1A1A"/>
                </a:solidFill>
                <a:latin typeface="Calibri"/>
                <a:cs typeface="Calibri"/>
              </a:rPr>
              <a:t>Bhashini / AI4Bharat Indian-language ASR — [VERIFY OFFICIAL URL]</a:t>
            </a:r>
          </a:p>
          <a:p>
            <a:pPr marL="171450" indent="-171450">
              <a:spcBef>
                <a:spcPts val="210"/>
              </a:spcBef>
              <a:buClr>
                <a:srgbClr val="0070C0"/>
              </a:buClr>
              <a:buFont typeface="Arial"/>
              <a:buChar char="•"/>
            </a:pPr>
            <a:r>
              <a:rPr lang="en-IN" sz="1000" dirty="0">
                <a:solidFill>
                  <a:srgbClr val="1A1A1A"/>
                </a:solidFill>
                <a:latin typeface="Calibri"/>
                <a:cs typeface="Calibri"/>
              </a:rPr>
              <a:t>Trividha, Ashtavidha and Dashavidha Pariksha — [CITE THE CLASSICAL TEXT OR AIIA SOURCE USED]</a:t>
            </a:r>
          </a:p>
        </p:txBody>
      </p:sp>
      <p:sp>
        <p:nvSpPr>
          <p:cNvPr id="2119" name="Verify band"/>
          <p:cNvSpPr/>
          <p:nvPr/>
        </p:nvSpPr>
        <p:spPr>
          <a:xfrm>
            <a:off x="7635240" y="4242816"/>
            <a:ext cx="4050792" cy="1298448"/>
          </a:xfrm>
          <a:prstGeom prst="roundRect">
            <a:avLst>
              <a:gd name="adj" fmla="val 8000"/>
            </a:avLst>
          </a:prstGeom>
          <a:solidFill>
            <a:srgbClr val="EEF5FB"/>
          </a:solidFill>
          <a:ln w="9525">
            <a:solidFill>
              <a:srgbClr val="C7D8E6"/>
            </a:solidFill>
          </a:ln>
        </p:spPr>
        <p:txBody>
          <a:bodyPr wrap="square" lIns="164592" tIns="91440" rIns="164592" bIns="91440" anchor="ctr"/>
          <a:lstStyle/>
          <a:p>
            <a:pPr algn="ctr">
              <a:spcBef>
                <a:spcPts val="0"/>
              </a:spcBef>
              <a:buNone/>
            </a:pPr>
            <a:r>
              <a:rPr lang="en-IN" sz="2800" b="1" dirty="0">
                <a:solidFill>
                  <a:srgbClr val="0070C0"/>
                </a:solidFill>
                <a:latin typeface="Times New Roman"/>
                <a:cs typeface="Times New Roman"/>
              </a:rPr>
              <a:t>THANK YOU</a:t>
            </a:r>
            <a:endParaRPr lang="en-IN" sz="2800" dirty="0">
              <a:solidFill>
                <a:srgbClr val="17365D"/>
              </a:solidFill>
              <a:latin typeface="Calibri"/>
              <a:cs typeface="Calibri"/>
            </a:endParaRPr>
          </a:p>
        </p:txBody>
      </p:sp>
      <p:sp>
        <p:nvSpPr>
          <p:cNvPr id="2120" name="Card body"/>
          <p:cNvSpPr/>
          <p:nvPr/>
        </p:nvSpPr>
        <p:spPr>
          <a:xfrm>
            <a:off x="502920" y="4133088"/>
            <a:ext cx="6903720" cy="140817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C7D8E6"/>
            </a:solidFill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2121" name="Card head"/>
          <p:cNvSpPr/>
          <p:nvPr/>
        </p:nvSpPr>
        <p:spPr>
          <a:xfrm>
            <a:off x="502920" y="4133088"/>
            <a:ext cx="6903720" cy="292608"/>
          </a:xfrm>
          <a:prstGeom prst="roundRect">
            <a:avLst>
              <a:gd name="adj" fmla="val 26000"/>
            </a:avLst>
          </a:prstGeom>
          <a:solidFill>
            <a:srgbClr val="1F7A5A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buNone/>
            </a:pPr>
            <a:r>
              <a:rPr lang="en-IN" sz="1400" b="1" dirty="0">
                <a:solidFill>
                  <a:srgbClr val="FFFFFF"/>
                </a:solidFill>
                <a:latin typeface="Times New Roman"/>
                <a:cs typeface="Times New Roman"/>
              </a:rPr>
              <a:t>WHY NOW — THE ENABLING CONDITIONS THE PS IDENTIFIES</a:t>
            </a:r>
          </a:p>
        </p:txBody>
      </p:sp>
      <p:sp>
        <p:nvSpPr>
          <p:cNvPr id="2122" name="Card text"/>
          <p:cNvSpPr txBox="1"/>
          <p:nvPr/>
        </p:nvSpPr>
        <p:spPr>
          <a:xfrm>
            <a:off x="649224" y="4507992"/>
            <a:ext cx="6611112" cy="9509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171450" indent="-171450">
              <a:spcBef>
                <a:spcPts val="250"/>
              </a:spcBef>
              <a:buClr>
                <a:srgbClr val="0070C0"/>
              </a:buClr>
              <a:buFont typeface="Arial"/>
              <a:buChar char="•"/>
            </a:pPr>
            <a:r>
              <a:rPr lang="en-IN" sz="900" dirty="0">
                <a:solidFill>
                  <a:srgbClr val="1A1A1A"/>
                </a:solidFill>
                <a:latin typeface="Calibri"/>
                <a:cs typeface="Calibri"/>
              </a:rPr>
              <a:t>ABDM has already built the national rails — ABHA identifiers, the Health Information Exchange and FHIR interoperability; only the first mile is missing</a:t>
            </a:r>
          </a:p>
          <a:p>
            <a:pPr marL="171450" indent="-171450">
              <a:spcBef>
                <a:spcPts val="250"/>
              </a:spcBef>
              <a:buClr>
                <a:srgbClr val="0070C0"/>
              </a:buClr>
              <a:buFont typeface="Arial"/>
              <a:buChar char="•"/>
            </a:pPr>
            <a:r>
              <a:rPr lang="en-IN" sz="900" dirty="0">
                <a:solidFill>
                  <a:srgbClr val="1A1A1A"/>
                </a:solidFill>
                <a:latin typeface="Calibri"/>
                <a:cs typeface="Calibri"/>
              </a:rPr>
              <a:t>Indian-language ASR (Bhashini / AI4Bharat), LLMs for clinical dialogue and high-accuracy OCR for handwritten records have all matured together</a:t>
            </a:r>
          </a:p>
          <a:p>
            <a:pPr marL="171450" indent="-171450">
              <a:spcBef>
                <a:spcPts val="250"/>
              </a:spcBef>
              <a:buClr>
                <a:srgbClr val="0070C0"/>
              </a:buClr>
              <a:buFont typeface="Arial"/>
              <a:buChar char="•"/>
            </a:pPr>
            <a:r>
              <a:rPr lang="en-IN" sz="900" dirty="0">
                <a:solidFill>
                  <a:srgbClr val="1A1A1A"/>
                </a:solidFill>
                <a:latin typeface="Calibri"/>
                <a:cs typeface="Calibri"/>
              </a:rPr>
              <a:t>Self-service kiosks already carry high-throughput service industries — banking, aviation, quick-service retail — but no healthcare kiosk does clinical intake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7845</TotalTime>
  <Words>1384</Words>
  <Application>Microsoft Office PowerPoint</Application>
  <PresentationFormat>Widescreen</PresentationFormat>
  <Paragraphs>227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ＭＳ Ｐゴシック</vt:lpstr>
      <vt:lpstr>Arial</vt:lpstr>
      <vt:lpstr>Calibri</vt:lpstr>
      <vt:lpstr>Times New Roman</vt:lpstr>
      <vt:lpstr>TradeGothic</vt:lpstr>
      <vt:lpstr>Office Theme</vt:lpstr>
      <vt:lpstr>SMART INDIA HACKATHON 2026</vt:lpstr>
      <vt:lpstr>MediKiosk — Pre-Consultation AI Case-Taking for Hospitals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aardhyadhikari26@outlook.com</cp:lastModifiedBy>
  <cp:revision>152</cp:revision>
  <dcterms:created xsi:type="dcterms:W3CDTF">2013-12-12T18:46:50Z</dcterms:created>
  <dcterms:modified xsi:type="dcterms:W3CDTF">2026-09-08T03:51:24Z</dcterms:modified>
  <cp:category/>
</cp:coreProperties>
</file>